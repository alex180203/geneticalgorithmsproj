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92f98c4-9503-fd63-af85-8b5ce56bc5f2}">
          <p14:sldIdLst>
            <p14:sldId id="256"/>
            <p14:sldId id="257"/>
            <p14:sldId id="258"/>
          </p14:sldIdLst>
        </p14:section>
        <p14:section name="System model" id="{30b1f68a-5368-0d3c-3e88-c6a057c5c5b2}">
          <p14:sldIdLst>
            <p14:sldId id="259"/>
            <p14:sldId id="260"/>
            <p14:sldId id="261"/>
            <p14:sldId id="262"/>
          </p14:sldIdLst>
        </p14:section>
        <p14:section name="Optimizers" id="{253ac715-417e-049a-991b-55b2007b5295}">
          <p14:sldIdLst>
            <p14:sldId id="263"/>
          </p14:sldIdLst>
        </p14:section>
        <p14:section name="Results" id="{316c03de-6a20-66fb-fb42-7817a42ebf45}">
          <p14:sldIdLst>
            <p14:sldId id="264"/>
            <p14:sldId id="265"/>
            <p14:sldId id="266"/>
            <p14:sldId id="267"/>
            <p14:sldId id="268"/>
            <p14:sldId id="269"/>
            <p14:sldId id="270"/>
            <p14:sldId id="271"/>
            <p14:sldId id="272"/>
            <p14:sldId id="273"/>
            <p14:sldId id="274"/>
          </p14:sldIdLst>
        </p14:section>
        <p14:section name="Conclusions" id="{afdac5f4-4f65-a4ae-214d-f09e798cd13d}">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F24"/>
                </a:solidFill>
                <a:latin typeface="+mn-lt"/>
              </a:defRPr>
            </a:pPr>
            <a:r>
              <a:rPr sz="1400" b="0" i="0" u="none" strike="noStrike">
                <a:solidFill>
                  <a:srgbClr val="1A1F24"/>
                </a:solidFill>
                <a:latin typeface="+mn-lt"/>
              </a:rPr>
              <a:t>Steady-state error, local loop [°]</a:t>
            </a:r>
          </a:p>
        </c:rich>
      </c:tx>
      <c:layout/>
      <c:overlay val="0"/>
    </c:title>
    <c:autoTitleDeleted val="0"/>
    <c:plotArea>
      <c:layout/>
      <c:barChart>
        <c:barDir val="col"/>
        <c:grouping val="clustered"/>
        <c:varyColors val="0"/>
        <c:ser>
          <c:idx val="0"/>
          <c:order val="0"/>
          <c:tx>
            <c:strRef>
              <c:f>Sheet1!$B$1</c:f>
              <c:strCache>
                <c:ptCount val="1"/>
                <c:pt idx="0">
                  <c:v>Thesis PD</c:v>
                </c:pt>
              </c:strCache>
            </c:strRef>
          </c:tx>
          <c:spPr>
            <a:solidFill>
              <a:srgbClr val="2A78D6"/>
            </a:solidFill>
            <a:effectLst/>
          </c:spPr>
          <c:invertIfNegative val="0"/>
          <c:dLbls>
            <c:numFmt formatCode="0.00" sourceLinked="0"/>
            <c:txPr>
              <a:bodyPr/>
              <a:lstStyle/>
              <a:p>
                <a:pPr>
                  <a:defRPr b="0" i="0" strike="noStrike" sz="1200" u="none">
                    <a:solidFill>
                      <a:srgbClr val="1A1F24"/>
                    </a:solidFill>
                    <a:latin typeface="+mn-lt"/>
                  </a:defRPr>
                </a:pPr>
              </a:p>
            </c:txPr>
            <c:showLegendKey val="0"/>
            <c:showVal val="1"/>
            <c:showCatName val="0"/>
            <c:showSerName val="0"/>
            <c:showPercent val="0"/>
            <c:showBubbleSize val="0"/>
            <c:showLeaderLines val="0"/>
          </c:dLbls>
          <c:cat>
            <c:multiLvlStrRef>
              <c:f>Sheet1!$A$2:$A$4</c:f>
              <c:multiLvlStrCache>
                <c:ptCount val="3"/>
                <c:lvl>
                  <c:pt idx="0">
                    <c:v>Joint 1</c:v>
                  </c:pt>
                  <c:pt idx="1">
                    <c:v>Joint 2</c:v>
                  </c:pt>
                  <c:pt idx="2">
                    <c:v>Joint 3</c:v>
                  </c:pt>
                </c:lvl>
              </c:multiLvlStrCache>
            </c:multiLvlStrRef>
          </c:cat>
          <c:val>
            <c:numRef>
              <c:f>Sheet1!$B$2:$B$4</c:f>
              <c:numCache>
                <c:formatCode>General</c:formatCode>
                <c:ptCount val="3"/>
                <c:pt idx="0">
                  <c:v>3.62</c:v>
                </c:pt>
                <c:pt idx="1">
                  <c:v>7.84</c:v>
                </c:pt>
                <c:pt idx="2">
                  <c:v>5.26</c:v>
                </c:pt>
              </c:numCache>
            </c:numRef>
          </c:val>
        </c:ser>
        <c:ser>
          <c:idx val="1"/>
          <c:order val="1"/>
          <c:tx>
            <c:strRef>
              <c:f>Sheet1!$C$1</c:f>
              <c:strCache>
                <c:ptCount val="1"/>
                <c:pt idx="0">
                  <c:v>PSO-PID</c:v>
                </c:pt>
              </c:strCache>
            </c:strRef>
          </c:tx>
          <c:spPr>
            <a:solidFill>
              <a:srgbClr val="1BAF7A"/>
            </a:solidFill>
            <a:effectLst/>
          </c:spPr>
          <c:invertIfNegative val="0"/>
          <c:dLbls>
            <c:numFmt formatCode="0.00" sourceLinked="0"/>
            <c:txPr>
              <a:bodyPr/>
              <a:lstStyle/>
              <a:p>
                <a:pPr>
                  <a:defRPr b="0" i="0" strike="noStrike" sz="1200" u="none">
                    <a:solidFill>
                      <a:srgbClr val="1A1F24"/>
                    </a:solidFill>
                    <a:latin typeface="+mn-lt"/>
                  </a:defRPr>
                </a:pPr>
              </a:p>
            </c:txPr>
            <c:showLegendKey val="0"/>
            <c:showVal val="1"/>
            <c:showCatName val="0"/>
            <c:showSerName val="0"/>
            <c:showPercent val="0"/>
            <c:showBubbleSize val="0"/>
            <c:showLeaderLines val="0"/>
          </c:dLbls>
          <c:cat>
            <c:multiLvlStrRef>
              <c:f>Sheet1!$A$2:$A$4</c:f>
              <c:multiLvlStrCache>
                <c:ptCount val="3"/>
                <c:lvl>
                  <c:pt idx="0">
                    <c:v>Joint 1</c:v>
                  </c:pt>
                  <c:pt idx="1">
                    <c:v>Joint 2</c:v>
                  </c:pt>
                  <c:pt idx="2">
                    <c:v>Joint 3</c:v>
                  </c:pt>
                </c:lvl>
              </c:multiLvlStrCache>
            </c:multiLvlStrRef>
          </c:cat>
          <c:val>
            <c:numRef>
              <c:f>Sheet1!$C$2:$C$4</c:f>
              <c:numCache>
                <c:formatCode>General</c:formatCode>
                <c:ptCount val="3"/>
                <c:pt idx="0">
                  <c:v>0.05</c:v>
                </c:pt>
                <c:pt idx="1">
                  <c:v>0.06</c:v>
                </c:pt>
                <c:pt idx="2">
                  <c:v>0.26</c:v>
                </c:pt>
              </c:numCache>
            </c:numRef>
          </c:val>
        </c:ser>
        <c:ser>
          <c:idx val="2"/>
          <c:order val="2"/>
          <c:tx>
            <c:strRef>
              <c:f>Sheet1!$D$1</c:f>
              <c:strCache>
                <c:ptCount val="1"/>
                <c:pt idx="0">
                  <c:v>GA-PID</c:v>
                </c:pt>
              </c:strCache>
            </c:strRef>
          </c:tx>
          <c:spPr>
            <a:solidFill>
              <a:srgbClr val="EDA100"/>
            </a:solidFill>
            <a:effectLst/>
          </c:spPr>
          <c:invertIfNegative val="0"/>
          <c:dLbls>
            <c:numFmt formatCode="0.00" sourceLinked="0"/>
            <c:txPr>
              <a:bodyPr/>
              <a:lstStyle/>
              <a:p>
                <a:pPr>
                  <a:defRPr b="0" i="0" strike="noStrike" sz="1200" u="none">
                    <a:solidFill>
                      <a:srgbClr val="1A1F24"/>
                    </a:solidFill>
                    <a:latin typeface="+mn-lt"/>
                  </a:defRPr>
                </a:pPr>
              </a:p>
            </c:txPr>
            <c:showLegendKey val="0"/>
            <c:showVal val="1"/>
            <c:showCatName val="0"/>
            <c:showSerName val="0"/>
            <c:showPercent val="0"/>
            <c:showBubbleSize val="0"/>
            <c:showLeaderLines val="0"/>
          </c:dLbls>
          <c:cat>
            <c:multiLvlStrRef>
              <c:f>Sheet1!$A$2:$A$4</c:f>
              <c:multiLvlStrCache>
                <c:ptCount val="3"/>
                <c:lvl>
                  <c:pt idx="0">
                    <c:v>Joint 1</c:v>
                  </c:pt>
                  <c:pt idx="1">
                    <c:v>Joint 2</c:v>
                  </c:pt>
                  <c:pt idx="2">
                    <c:v>Joint 3</c:v>
                  </c:pt>
                </c:lvl>
              </c:multiLvlStrCache>
            </c:multiLvlStrRef>
          </c:cat>
          <c:val>
            <c:numRef>
              <c:f>Sheet1!$D$2:$D$4</c:f>
              <c:numCache>
                <c:formatCode>General</c:formatCode>
                <c:ptCount val="3"/>
                <c:pt idx="0">
                  <c:v>0.06</c:v>
                </c:pt>
                <c:pt idx="1">
                  <c:v>0.12</c:v>
                </c:pt>
                <c:pt idx="2">
                  <c:v>0.29</c:v>
                </c:pt>
              </c:numCache>
            </c:numRef>
          </c:val>
        </c:ser>
        <c:dLbls>
          <c:numFmt formatCode="0.00" sourceLinked="0"/>
          <c:txPr>
            <a:bodyPr/>
            <a:lstStyle/>
            <a:p>
              <a:pPr>
                <a:defRPr b="0" i="0" strike="noStrike" sz="1200" u="none">
                  <a:solidFill>
                    <a:srgbClr val="1A1F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E7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7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5F6E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A1F2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reports the simulation results of the automatic PID retuning milestone. Four controllers are compared throughout, and they keep the same colour on every slide and figure: blue thesis PD, orange manual QUARC PID, green PSO-PID, amber GA-PID.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numbers. The cost drops by a factor of about 18, the worst steady-state error by two orders of magnitude, and the seam-welding error from 34 mm to about 2 mm. PSO wins on cost and on delay robustness; GA is a close second and marginally better on seam 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reference designs exist. The analytical PD meets its frequency-domain targets but has no integral term, so a constant gravity and friction bias leaves 3 to 8 degrees of error. The hand-tuned QUARC PID fixes the error but has little phase margin, so it rings when the loop is closed over the network. The goal is an automatic, delay-aware search over all nine gains.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Denavit-Hartenberg chain of the three actuated joints. Targets outside the 5 to 25 cm shell, or jumps larger than 15 cm, raise a WorkspaceError. The damped least-squares inverse Jacobian is used by the task-space velocity controller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joint is a decoupled inertia-damper with a disturbance term. The disturbance magnitudes are calibrated assumptions chosen to reproduce the thesis's measured PD error, not identified on hardware. Torque limits come from the tip-force rating multiplied by the lever 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simulation chain used to score every candidate. The delay sits in the feedback path, so the controller sees a stale measurement, which is the condition that destabilises aggressive gains. Because the whole population is simulated as one array, a full 60-iteration run takes about 15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 mixes tracking performance with robustness. Averaging over a delay-free and a 20 ms scenario makes the tuning delay-aware, and the two penalties keep the optimizers from trading away phase margin or delay margin. The 30 ms delay floor equals 1.5 UDP periods.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optimizers get the same number of individuals, iterations, search bounds and seed, so their results are directly comparable. Seeding the thesis design into the initial population guarantees neither ends worse than the analytical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Solid lines are the best cost found so far, dotted lines the population mean, on a log scale. PSO drops below a cost of 5 within four iterations and keeps improving. The GA population mean stays high because mutation keeps exploring, while the PSO swarm collapses onto the optimum after about 45 iterations.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Joint 1 gains in the Kp-Kd plane at iterations 0, 5, 20 and 60. The orange diamond is the thesis PD design, the green star the final best. The PSO swarm contracts to a single point; the GA population keeps a spread because of mutation, with a few outliers still at iteration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9-parameter search, position loop. Margins include the derivative filter and sampling. Both optimizers lower the crossover frequency from about 35 to 21-30 rad/s and add integral gains of 2 to 7, which lifts the delay margin above the thesis's 34.9 ms on most joints. GA joint 2 is the weakest at 35.4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0.3 rad (17.2 degree) step on each joint, no delay. The thesis PD is fast but settles 3.6, 7.8 and 5.3 degrees short because of the gravity and friction bias. PSO and GA settle within the 2 percent band in roughly a quarter of a second, with steady-state errors of at most 0.26 and 0.29 degrees.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step with 20 ms of feedback delay. QUARC PID with only 48 degrees of phase margin oscillates for almost a second. PSO settles in 158 to 264 ms; GA in 187 to 396 ms, with joint 1 overshooting 4.1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Steady-state error in degrees for the local loop. The thesis PD error is the 3 to 8 degree sag documented in the thesis. With 20 ms of delay the picture is the same: PSO 0.01, 0.00 and 0.30 degrees, GA 0.20, 0.08 and 0.31 degrees.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Open-loop Bode plots per joint. The integral action raises low-frequency gain by about 20 dB, which is what rejects the bias. The optimizers lower the crossover so the loop tolerates more delay, while QUARC PID crosses at the same 36 rad/s as the PD with much less phase margin. Crossover frequencies are in rad/s.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Delay swept from 0 to 50 ms in 2.5 ms steps; each line ends where one joint loses stability. The PD becomes unstable just before its analytical 34.9 ms margin because the derivative filter and sampling add phase lag. PSO tolerates 42.5 ms, more than two UDP periods.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4 second, 12 cm seam with a 3 mm, 2 Hz weave, commanded at 50 Hz over UDP and tracked in joint space. Max errors: thesis PD 35.1 mm, PSO 4.33 mm, GA 4.31 mm. The PD's offset is the joint sag mapped through the kinematics.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seam with 20 ms of feedback delay. Errors barely change, because the delay-aware tuning already accounted for it. Max errors: thesis PD 35.0 mm, PSO 4.54 mm, GA 4.46 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Cartesian P loop, then the damped least-squares Jacobian, then per-joint velocity PIDs, also tuned with PSO. The Cartesian feed-forward velocity compensates the tracking lag of the position loop. Velocity-loop gains: Kp 0.153, 0.113, 0.045; Ki 2.40, 2.41, 0.89; Kd about 0.001.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The gains come from a simulation whose disturbance model is calibrated rather than measured, so the next step is to validate the PSO gains on the real Geomagic Touch through QUARC, then identify the friction and configuration-dependent gravity to make the retuning adaptive.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6949440" cy="20116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640080" y="3749040"/>
            <a:ext cx="6949440" cy="1005840"/>
          </a:xfrm>
          <a:prstGeom prst="rect">
            <a:avLst/>
          </a:prstGeom>
          <a:noFill/>
          <a:ln/>
        </p:spPr>
        <p:txBody>
          <a:bodyPr wrap="square" rtlCol="0"/>
          <a:lstStyle>
            <a:lvl1pPr indent="0" marL="0">
              <a:buNone/>
              <a:defRPr lang="en-US" sz="1800"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640080" y="5669280"/>
            <a:ext cx="6949440" cy="640080"/>
          </a:xfrm>
          <a:prstGeom prst="rect">
            <a:avLst/>
          </a:prstGeom>
          <a:noFill/>
          <a:ln/>
        </p:spPr>
        <p:txBody>
          <a:bodyPr wrap="square" rtlCol="0"/>
          <a:lstStyle>
            <a:lvl1pPr indent="0" marL="0">
              <a:buNone/>
              <a:defRPr lang="en-US" sz="1200" dirty="0">
                <a:solidFill>
                  <a:schemeClr val="bg2"/>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ph idx="101" type="body" hasCustomPrompt="1"/>
          </p:nvPr>
        </p:nvSpPr>
        <p:spPr>
          <a:xfrm>
            <a:off x="548640" y="1005840"/>
            <a:ext cx="11094415" cy="457200"/>
          </a:xfrm>
          <a:prstGeom prst="rect">
            <a:avLst/>
          </a:prstGeom>
          <a:noFill/>
          <a:ln/>
        </p:spPr>
        <p:txBody>
          <a:bodyPr wrap="square" rtlCol="0"/>
          <a:lstStyle>
            <a:lvl1pPr indent="0" marL="0">
              <a:buNone/>
              <a:defRPr lang="en-US" sz="1600" dirty="0">
                <a:solidFill>
                  <a:schemeClr val="accent6"/>
                </a:solidFill>
              </a:defRPr>
            </a:lvl1pPr>
          </a:lstStyle>
          <a:p>
            <a:pPr indent="0" marL="0">
              <a:buNone/>
            </a:pPr>
            <a:endParaRPr lang="en-US" sz="1600" dirty="0"/>
          </a:p>
        </p:txBody>
      </p:sp>
      <p:sp>
        <p:nvSpPr>
          <p:cNvPr id="4"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6"/>
                </a:solidFill>
              </a:rPr>
              <a:t>Omni PID Optimizer  ·  PSO &amp; GA tuning of the Geomagic Touch</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1005840"/>
            <a:ext cx="11094415" cy="457200"/>
          </a:xfrm>
          <a:prstGeom prst="rect">
            <a:avLst/>
          </a:prstGeom>
          <a:noFill/>
          <a:ln/>
        </p:spPr>
        <p:txBody>
          <a:bodyPr wrap="square" rtlCol="0"/>
          <a:lstStyle>
            <a:lvl1pPr indent="0" marL="0">
              <a:buNone/>
              <a:defRPr lang="en-US" sz="1600" dirty="0">
                <a:solidFill>
                  <a:schemeClr val="accent1"/>
                </a:solidFill>
              </a:defRPr>
            </a:lvl1pPr>
          </a:lstStyle>
          <a:p>
            <a:pPr indent="0" marL="0">
              <a:buNone/>
            </a:pPr>
            <a:endParaRPr lang="en-US" sz="1600" dirty="0"/>
          </a:p>
        </p:txBody>
      </p:sp>
      <p:sp>
        <p:nvSpPr>
          <p:cNvPr id="4"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bg2"/>
                </a:solidFill>
              </a:rPr>
              <a:t>Omni PID Optimizer  ·  PSO &amp; GA tuning of the Geomagic Touch</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6949440" cy="2011680"/>
          </a:xfrm>
          <a:prstGeom prst="rect">
            <a:avLst/>
          </a:prstGeom>
          <a:noFill/>
          <a:ln/>
        </p:spPr>
        <p:txBody>
          <a:bodyPr wrap="square" lIns="0" tIns="0" rIns="0" bIns="0" rtlCol="0" anchor="b"/>
          <a:lstStyle/>
          <a:p>
            <a:pPr algn="l" indent="0" marL="0">
              <a:buNone/>
            </a:pPr>
            <a:r>
              <a:rPr lang="en-US" sz="4000" b="1" dirty="0">
                <a:solidFill>
                  <a:schemeClr val="bg1"/>
                </a:solidFill>
              </a:rPr>
              <a:t>Automatic PID Retuning for the Phantom Omni</a:t>
            </a:r>
            <a:endParaRPr lang="en-US" sz="4000" dirty="0"/>
          </a:p>
        </p:txBody>
      </p:sp>
      <p:sp>
        <p:nvSpPr>
          <p:cNvPr id="3" name="Text 0"/>
          <p:cNvSpPr/>
          <p:nvPr>
            <p:ph idx="101" type="body" hasCustomPrompt="1"/>
          </p:nvPr>
        </p:nvSpPr>
        <p:spPr>
          <a:xfrm>
            <a:off x="640080" y="3749040"/>
            <a:ext cx="6949440" cy="1005840"/>
          </a:xfrm>
          <a:prstGeom prst="rect">
            <a:avLst/>
          </a:prstGeom>
          <a:noFill/>
          <a:ln/>
        </p:spPr>
        <p:txBody>
          <a:bodyPr wrap="square" lIns="0" tIns="0" rIns="0" bIns="0" rtlCol="0" anchor="t"/>
          <a:lstStyle/>
          <a:p>
            <a:pPr indent="0" marL="0">
              <a:buNone/>
            </a:pPr>
            <a:r>
              <a:rPr lang="en-US" sz="1800" dirty="0">
                <a:solidFill>
                  <a:schemeClr val="accent1"/>
                </a:solidFill>
              </a:rPr>
              <a:t>Particle Swarm Optimization vs Genetic Algorithm: simulation results for the 3-DoF Geomagic Touch</a:t>
            </a:r>
            <a:endParaRPr lang="en-US" sz="1800" dirty="0"/>
          </a:p>
        </p:txBody>
      </p:sp>
      <p:sp>
        <p:nvSpPr>
          <p:cNvPr id="4" name="Text 0"/>
          <p:cNvSpPr/>
          <p:nvPr>
            <p:ph idx="102" type="body" hasCustomPrompt="1"/>
          </p:nvPr>
        </p:nvSpPr>
        <p:spPr>
          <a:xfrm>
            <a:off x="640080" y="5669280"/>
            <a:ext cx="6949440" cy="640080"/>
          </a:xfrm>
          <a:prstGeom prst="rect">
            <a:avLst/>
          </a:prstGeom>
          <a:noFill/>
          <a:ln/>
        </p:spPr>
        <p:txBody>
          <a:bodyPr wrap="square" lIns="0" tIns="0" rIns="0" bIns="0" rtlCol="0" anchor="t"/>
          <a:lstStyle/>
          <a:p>
            <a:pPr indent="0" marL="0">
              <a:buNone/>
            </a:pPr>
            <a:r>
              <a:rPr lang="en-US" sz="1200" dirty="0">
                <a:solidFill>
                  <a:schemeClr val="bg2"/>
                </a:solidFill>
              </a:rPr>
              <a:t>Implements Sec. 7.9 "Adaptive Control and Automatic Retuning" of Omni Bundle - Haptic Device's Industrial Approach (Găvan, 2026)</a:t>
            </a:r>
            <a:endParaRPr lang="en-US" sz="1200" dirty="0"/>
          </a:p>
        </p:txBody>
      </p:sp>
      <p:sp>
        <p:nvSpPr>
          <p:cNvPr id="5" name="controllers-panel"/>
          <p:cNvSpPr/>
          <p:nvPr/>
        </p:nvSpPr>
        <p:spPr>
          <a:xfrm>
            <a:off x="8183880" y="1554480"/>
            <a:ext cx="3459175" cy="4206240"/>
          </a:xfrm>
          <a:prstGeom prst="roundRect">
            <a:avLst>
              <a:gd name="adj" fmla="val 2643"/>
            </a:avLst>
          </a:prstGeom>
          <a:solidFill>
            <a:schemeClr val="tx1"/>
          </a:solidFill>
          <a:ln/>
        </p:spPr>
      </p:sp>
      <p:sp>
        <p:nvSpPr>
          <p:cNvPr id="6" name="controllers-heading"/>
          <p:cNvSpPr txBox="1"/>
          <p:nvPr/>
        </p:nvSpPr>
        <p:spPr>
          <a:xfrm>
            <a:off x="8503920" y="1783080"/>
            <a:ext cx="2819095" cy="365760"/>
          </a:xfrm>
          <a:prstGeom prst="rect">
            <a:avLst/>
          </a:prstGeom>
          <a:noFill/>
          <a:ln/>
        </p:spPr>
        <p:txBody>
          <a:bodyPr wrap="square" lIns="0" tIns="0" rIns="0" bIns="0" rtlCol="0" anchor="ctr"/>
          <a:lstStyle/>
          <a:p>
            <a:pPr indent="0" marL="0">
              <a:buNone/>
            </a:pPr>
            <a:r>
              <a:rPr lang="en-US" sz="1600" b="1" dirty="0">
                <a:solidFill>
                  <a:schemeClr val="bg1"/>
                </a:solidFill>
              </a:rPr>
              <a:t>Controllers compared</a:t>
            </a:r>
            <a:endParaRPr lang="en-US" sz="1600" dirty="0"/>
          </a:p>
        </p:txBody>
      </p:sp>
      <p:sp>
        <p:nvSpPr>
          <p:cNvPr id="7" name="dot-1"/>
          <p:cNvSpPr/>
          <p:nvPr/>
        </p:nvSpPr>
        <p:spPr>
          <a:xfrm>
            <a:off x="8531352" y="2450592"/>
            <a:ext cx="219456" cy="219456"/>
          </a:xfrm>
          <a:prstGeom prst="ellipse">
            <a:avLst/>
          </a:prstGeom>
          <a:solidFill>
            <a:schemeClr val="accent3"/>
          </a:solidFill>
          <a:ln/>
        </p:spPr>
      </p:sp>
      <p:sp>
        <p:nvSpPr>
          <p:cNvPr id="8" name="ctrl-name-2"/>
          <p:cNvSpPr txBox="1"/>
          <p:nvPr/>
        </p:nvSpPr>
        <p:spPr>
          <a:xfrm>
            <a:off x="8915400" y="2377440"/>
            <a:ext cx="2453335" cy="347472"/>
          </a:xfrm>
          <a:prstGeom prst="rect">
            <a:avLst/>
          </a:prstGeom>
          <a:noFill/>
          <a:ln/>
        </p:spPr>
        <p:txBody>
          <a:bodyPr wrap="square" lIns="0" tIns="0" rIns="0" bIns="0" rtlCol="0" anchor="ctr"/>
          <a:lstStyle/>
          <a:p>
            <a:pPr indent="0" marL="0">
              <a:buNone/>
            </a:pPr>
            <a:r>
              <a:rPr lang="en-US" sz="1800" b="1" dirty="0">
                <a:solidFill>
                  <a:schemeClr val="bg1"/>
                </a:solidFill>
              </a:rPr>
              <a:t>Thesis PD</a:t>
            </a:r>
            <a:endParaRPr lang="en-US" sz="1800" dirty="0"/>
          </a:p>
        </p:txBody>
      </p:sp>
      <p:sp>
        <p:nvSpPr>
          <p:cNvPr id="9" name="ctrl-desc-3"/>
          <p:cNvSpPr txBox="1"/>
          <p:nvPr/>
        </p:nvSpPr>
        <p:spPr>
          <a:xfrm>
            <a:off x="8915400" y="2724912"/>
            <a:ext cx="2453335" cy="310896"/>
          </a:xfrm>
          <a:prstGeom prst="rect">
            <a:avLst/>
          </a:prstGeom>
          <a:noFill/>
          <a:ln/>
        </p:spPr>
        <p:txBody>
          <a:bodyPr wrap="square" lIns="0" tIns="0" rIns="0" bIns="0" rtlCol="0" anchor="ctr"/>
          <a:lstStyle/>
          <a:p>
            <a:pPr indent="0" marL="0">
              <a:buNone/>
            </a:pPr>
            <a:r>
              <a:rPr lang="en-US" sz="1400" dirty="0">
                <a:solidFill>
                  <a:schemeClr val="bg2"/>
                </a:solidFill>
              </a:rPr>
              <a:t>Frequency-domain design</a:t>
            </a:r>
            <a:endParaRPr lang="en-US" sz="1400" dirty="0"/>
          </a:p>
        </p:txBody>
      </p:sp>
      <p:sp>
        <p:nvSpPr>
          <p:cNvPr id="10" name="dot-4"/>
          <p:cNvSpPr/>
          <p:nvPr/>
        </p:nvSpPr>
        <p:spPr>
          <a:xfrm>
            <a:off x="8531352" y="3273552"/>
            <a:ext cx="219456" cy="219456"/>
          </a:xfrm>
          <a:prstGeom prst="ellipse">
            <a:avLst/>
          </a:prstGeom>
          <a:solidFill>
            <a:schemeClr val="accent4"/>
          </a:solidFill>
          <a:ln/>
        </p:spPr>
      </p:sp>
      <p:sp>
        <p:nvSpPr>
          <p:cNvPr id="11" name="ctrl-name-5"/>
          <p:cNvSpPr txBox="1"/>
          <p:nvPr/>
        </p:nvSpPr>
        <p:spPr>
          <a:xfrm>
            <a:off x="8915400" y="3200400"/>
            <a:ext cx="2453335" cy="347472"/>
          </a:xfrm>
          <a:prstGeom prst="rect">
            <a:avLst/>
          </a:prstGeom>
          <a:noFill/>
          <a:ln/>
        </p:spPr>
        <p:txBody>
          <a:bodyPr wrap="square" lIns="0" tIns="0" rIns="0" bIns="0" rtlCol="0" anchor="ctr"/>
          <a:lstStyle/>
          <a:p>
            <a:pPr indent="0" marL="0">
              <a:buNone/>
            </a:pPr>
            <a:r>
              <a:rPr lang="en-US" sz="1800" b="1" dirty="0">
                <a:solidFill>
                  <a:schemeClr val="bg1"/>
                </a:solidFill>
              </a:rPr>
              <a:t>QUARC PID</a:t>
            </a:r>
            <a:endParaRPr lang="en-US" sz="1800" dirty="0"/>
          </a:p>
        </p:txBody>
      </p:sp>
      <p:sp>
        <p:nvSpPr>
          <p:cNvPr id="12" name="ctrl-desc-6"/>
          <p:cNvSpPr txBox="1"/>
          <p:nvPr/>
        </p:nvSpPr>
        <p:spPr>
          <a:xfrm>
            <a:off x="8915400" y="3547872"/>
            <a:ext cx="2453335" cy="310896"/>
          </a:xfrm>
          <a:prstGeom prst="rect">
            <a:avLst/>
          </a:prstGeom>
          <a:noFill/>
          <a:ln/>
        </p:spPr>
        <p:txBody>
          <a:bodyPr wrap="square" lIns="0" tIns="0" rIns="0" bIns="0" rtlCol="0" anchor="ctr"/>
          <a:lstStyle/>
          <a:p>
            <a:pPr indent="0" marL="0">
              <a:buNone/>
            </a:pPr>
            <a:r>
              <a:rPr lang="en-US" sz="1400" dirty="0">
                <a:solidFill>
                  <a:schemeClr val="bg2"/>
                </a:solidFill>
              </a:rPr>
              <a:t>Manual hardware tuning, joint 1</a:t>
            </a:r>
            <a:endParaRPr lang="en-US" sz="1400" dirty="0"/>
          </a:p>
        </p:txBody>
      </p:sp>
      <p:sp>
        <p:nvSpPr>
          <p:cNvPr id="13" name="dot-7"/>
          <p:cNvSpPr/>
          <p:nvPr/>
        </p:nvSpPr>
        <p:spPr>
          <a:xfrm>
            <a:off x="8531352" y="4096512"/>
            <a:ext cx="219456" cy="219456"/>
          </a:xfrm>
          <a:prstGeom prst="ellipse">
            <a:avLst/>
          </a:prstGeom>
          <a:solidFill>
            <a:schemeClr val="accent1"/>
          </a:solidFill>
          <a:ln/>
        </p:spPr>
      </p:sp>
      <p:sp>
        <p:nvSpPr>
          <p:cNvPr id="14" name="ctrl-name-8"/>
          <p:cNvSpPr txBox="1"/>
          <p:nvPr/>
        </p:nvSpPr>
        <p:spPr>
          <a:xfrm>
            <a:off x="8915400" y="4023360"/>
            <a:ext cx="2453335" cy="347472"/>
          </a:xfrm>
          <a:prstGeom prst="rect">
            <a:avLst/>
          </a:prstGeom>
          <a:noFill/>
          <a:ln/>
        </p:spPr>
        <p:txBody>
          <a:bodyPr wrap="square" lIns="0" tIns="0" rIns="0" bIns="0" rtlCol="0" anchor="ctr"/>
          <a:lstStyle/>
          <a:p>
            <a:pPr indent="0" marL="0">
              <a:buNone/>
            </a:pPr>
            <a:r>
              <a:rPr lang="en-US" sz="1800" b="1" dirty="0">
                <a:solidFill>
                  <a:schemeClr val="bg1"/>
                </a:solidFill>
              </a:rPr>
              <a:t>PSO-PID</a:t>
            </a:r>
            <a:endParaRPr lang="en-US" sz="1800" dirty="0"/>
          </a:p>
        </p:txBody>
      </p:sp>
      <p:sp>
        <p:nvSpPr>
          <p:cNvPr id="15" name="ctrl-desc-9"/>
          <p:cNvSpPr txBox="1"/>
          <p:nvPr/>
        </p:nvSpPr>
        <p:spPr>
          <a:xfrm>
            <a:off x="8915400" y="4370832"/>
            <a:ext cx="2453335" cy="310896"/>
          </a:xfrm>
          <a:prstGeom prst="rect">
            <a:avLst/>
          </a:prstGeom>
          <a:noFill/>
          <a:ln/>
        </p:spPr>
        <p:txBody>
          <a:bodyPr wrap="square" lIns="0" tIns="0" rIns="0" bIns="0" rtlCol="0" anchor="ctr"/>
          <a:lstStyle/>
          <a:p>
            <a:pPr indent="0" marL="0">
              <a:buNone/>
            </a:pPr>
            <a:r>
              <a:rPr lang="en-US" sz="1400" dirty="0">
                <a:solidFill>
                  <a:schemeClr val="bg2"/>
                </a:solidFill>
              </a:rPr>
              <a:t>Particle Swarm Optimization</a:t>
            </a:r>
            <a:endParaRPr lang="en-US" sz="1400" dirty="0"/>
          </a:p>
        </p:txBody>
      </p:sp>
      <p:sp>
        <p:nvSpPr>
          <p:cNvPr id="16" name="dot-10"/>
          <p:cNvSpPr/>
          <p:nvPr/>
        </p:nvSpPr>
        <p:spPr>
          <a:xfrm>
            <a:off x="8531352" y="4919472"/>
            <a:ext cx="219456" cy="219456"/>
          </a:xfrm>
          <a:prstGeom prst="ellipse">
            <a:avLst/>
          </a:prstGeom>
          <a:solidFill>
            <a:schemeClr val="accent2"/>
          </a:solidFill>
          <a:ln/>
        </p:spPr>
      </p:sp>
      <p:sp>
        <p:nvSpPr>
          <p:cNvPr id="17" name="ctrl-name-11"/>
          <p:cNvSpPr txBox="1"/>
          <p:nvPr/>
        </p:nvSpPr>
        <p:spPr>
          <a:xfrm>
            <a:off x="8915400" y="4846320"/>
            <a:ext cx="2453335" cy="347472"/>
          </a:xfrm>
          <a:prstGeom prst="rect">
            <a:avLst/>
          </a:prstGeom>
          <a:noFill/>
          <a:ln/>
        </p:spPr>
        <p:txBody>
          <a:bodyPr wrap="square" lIns="0" tIns="0" rIns="0" bIns="0" rtlCol="0" anchor="ctr"/>
          <a:lstStyle/>
          <a:p>
            <a:pPr indent="0" marL="0">
              <a:buNone/>
            </a:pPr>
            <a:r>
              <a:rPr lang="en-US" sz="1800" b="1" dirty="0">
                <a:solidFill>
                  <a:schemeClr val="bg1"/>
                </a:solidFill>
              </a:rPr>
              <a:t>GA-PID</a:t>
            </a:r>
            <a:endParaRPr lang="en-US" sz="1800" dirty="0"/>
          </a:p>
        </p:txBody>
      </p:sp>
      <p:sp>
        <p:nvSpPr>
          <p:cNvPr id="18" name="ctrl-desc-12"/>
          <p:cNvSpPr txBox="1"/>
          <p:nvPr/>
        </p:nvSpPr>
        <p:spPr>
          <a:xfrm>
            <a:off x="8915400" y="5193792"/>
            <a:ext cx="2453335" cy="310896"/>
          </a:xfrm>
          <a:prstGeom prst="rect">
            <a:avLst/>
          </a:prstGeom>
          <a:noFill/>
          <a:ln/>
        </p:spPr>
        <p:txBody>
          <a:bodyPr wrap="square" lIns="0" tIns="0" rIns="0" bIns="0" rtlCol="0" anchor="ctr"/>
          <a:lstStyle/>
          <a:p>
            <a:pPr indent="0" marL="0">
              <a:buNone/>
            </a:pPr>
            <a:r>
              <a:rPr lang="en-US" sz="1400" dirty="0">
                <a:solidFill>
                  <a:schemeClr val="bg2"/>
                </a:solidFill>
              </a:rPr>
              <a:t>Genetic Algorithm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600" b="1" dirty="0">
                <a:solidFill>
                  <a:schemeClr val="tx1"/>
                </a:solidFill>
              </a:rPr>
              <a:t>Results at a glance</a:t>
            </a:r>
            <a:endParaRPr lang="en-US" sz="36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6"/>
                </a:solidFill>
              </a:rPr>
              <a:t>Both optimizers remove the steady-state sag and widen the delay margin of the thesis PD design</a:t>
            </a:r>
            <a:endParaRPr lang="en-US" sz="1600" dirty="0"/>
          </a:p>
        </p:txBody>
      </p:sp>
      <p:sp>
        <p:nvSpPr>
          <p:cNvPr id="4" name="card-13"/>
          <p:cNvSpPr/>
          <p:nvPr/>
        </p:nvSpPr>
        <p:spPr>
          <a:xfrm>
            <a:off x="548640" y="1783080"/>
            <a:ext cx="2567864" cy="1874520"/>
          </a:xfrm>
          <a:prstGeom prst="roundRect">
            <a:avLst>
              <a:gd name="adj" fmla="val 3902"/>
            </a:avLst>
          </a:prstGeom>
          <a:solidFill>
            <a:schemeClr val="bg2"/>
          </a:solidFill>
          <a:ln/>
        </p:spPr>
      </p:sp>
      <p:sp>
        <p:nvSpPr>
          <p:cNvPr id="5" name="dot-14"/>
          <p:cNvSpPr/>
          <p:nvPr/>
        </p:nvSpPr>
        <p:spPr>
          <a:xfrm>
            <a:off x="731520" y="2029968"/>
            <a:ext cx="164592" cy="164592"/>
          </a:xfrm>
          <a:prstGeom prst="ellipse">
            <a:avLst/>
          </a:prstGeom>
          <a:solidFill>
            <a:schemeClr val="accent1"/>
          </a:solidFill>
          <a:ln/>
        </p:spPr>
      </p:sp>
      <p:sp>
        <p:nvSpPr>
          <p:cNvPr id="6" name="stat-label-15"/>
          <p:cNvSpPr txBox="1"/>
          <p:nvPr/>
        </p:nvSpPr>
        <p:spPr>
          <a:xfrm>
            <a:off x="1005840" y="1965960"/>
            <a:ext cx="1927784" cy="292608"/>
          </a:xfrm>
          <a:prstGeom prst="rect">
            <a:avLst/>
          </a:prstGeom>
          <a:noFill/>
          <a:ln/>
        </p:spPr>
        <p:txBody>
          <a:bodyPr wrap="square" lIns="0" tIns="0" rIns="0" bIns="0" rtlCol="0" anchor="ctr"/>
          <a:lstStyle/>
          <a:p>
            <a:pPr indent="0" marL="0">
              <a:buNone/>
            </a:pPr>
            <a:r>
              <a:rPr lang="en-US" sz="1400" b="1" dirty="0">
                <a:solidFill>
                  <a:schemeClr val="tx1"/>
                </a:solidFill>
              </a:rPr>
              <a:t>Total cost</a:t>
            </a:r>
            <a:endParaRPr lang="en-US" sz="1400" dirty="0"/>
          </a:p>
        </p:txBody>
      </p:sp>
      <p:sp>
        <p:nvSpPr>
          <p:cNvPr id="7" name="stat-value-16"/>
          <p:cNvSpPr txBox="1"/>
          <p:nvPr/>
        </p:nvSpPr>
        <p:spPr>
          <a:xfrm>
            <a:off x="731520" y="2313432"/>
            <a:ext cx="2202104" cy="502920"/>
          </a:xfrm>
          <a:prstGeom prst="rect">
            <a:avLst/>
          </a:prstGeom>
          <a:noFill/>
          <a:ln/>
        </p:spPr>
        <p:txBody>
          <a:bodyPr wrap="square" lIns="0" tIns="0" rIns="0" bIns="0" rtlCol="0" anchor="ctr"/>
          <a:lstStyle/>
          <a:p>
            <a:pPr indent="0" marL="0">
              <a:buNone/>
            </a:pPr>
            <a:r>
              <a:rPr lang="en-US" sz="2400" b="1" dirty="0">
                <a:solidFill>
                  <a:schemeClr val="tx1"/>
                </a:solidFill>
              </a:rPr>
              <a:t>18.5 → 1.05</a:t>
            </a:r>
            <a:endParaRPr lang="en-US" sz="2400" dirty="0"/>
          </a:p>
        </p:txBody>
      </p:sp>
      <p:sp>
        <p:nvSpPr>
          <p:cNvPr id="8" name="stat-desc-17"/>
          <p:cNvSpPr txBox="1"/>
          <p:nvPr/>
        </p:nvSpPr>
        <p:spPr>
          <a:xfrm>
            <a:off x="731520" y="2862072"/>
            <a:ext cx="2202104" cy="612648"/>
          </a:xfrm>
          <a:prstGeom prst="rect">
            <a:avLst/>
          </a:prstGeom>
          <a:noFill/>
          <a:ln/>
        </p:spPr>
        <p:txBody>
          <a:bodyPr wrap="square" lIns="0" tIns="0" rIns="0" bIns="0" rtlCol="0" anchor="t"/>
          <a:lstStyle/>
          <a:p>
            <a:pPr indent="0" marL="0">
              <a:buNone/>
            </a:pPr>
            <a:r>
              <a:rPr lang="en-US" sz="1400" dirty="0">
                <a:solidFill>
                  <a:schemeClr val="accent6"/>
                </a:solidFill>
              </a:rPr>
              <a:t>Thesis PD → PSO-PID on the shared objective</a:t>
            </a:r>
            <a:endParaRPr lang="en-US" sz="1400" dirty="0"/>
          </a:p>
        </p:txBody>
      </p:sp>
      <p:sp>
        <p:nvSpPr>
          <p:cNvPr id="9" name="card-18"/>
          <p:cNvSpPr/>
          <p:nvPr/>
        </p:nvSpPr>
        <p:spPr>
          <a:xfrm>
            <a:off x="3390824" y="1783080"/>
            <a:ext cx="2567864" cy="1874520"/>
          </a:xfrm>
          <a:prstGeom prst="roundRect">
            <a:avLst>
              <a:gd name="adj" fmla="val 3902"/>
            </a:avLst>
          </a:prstGeom>
          <a:solidFill>
            <a:schemeClr val="bg2"/>
          </a:solidFill>
          <a:ln/>
        </p:spPr>
      </p:sp>
      <p:sp>
        <p:nvSpPr>
          <p:cNvPr id="10" name="dot-19"/>
          <p:cNvSpPr/>
          <p:nvPr/>
        </p:nvSpPr>
        <p:spPr>
          <a:xfrm>
            <a:off x="3573704" y="2029968"/>
            <a:ext cx="164592" cy="164592"/>
          </a:xfrm>
          <a:prstGeom prst="ellipse">
            <a:avLst/>
          </a:prstGeom>
          <a:solidFill>
            <a:schemeClr val="accent1"/>
          </a:solidFill>
          <a:ln/>
        </p:spPr>
      </p:sp>
      <p:sp>
        <p:nvSpPr>
          <p:cNvPr id="11" name="stat-label-20"/>
          <p:cNvSpPr txBox="1"/>
          <p:nvPr/>
        </p:nvSpPr>
        <p:spPr>
          <a:xfrm>
            <a:off x="3848024" y="1965960"/>
            <a:ext cx="1927784" cy="292608"/>
          </a:xfrm>
          <a:prstGeom prst="rect">
            <a:avLst/>
          </a:prstGeom>
          <a:noFill/>
          <a:ln/>
        </p:spPr>
        <p:txBody>
          <a:bodyPr wrap="square" lIns="0" tIns="0" rIns="0" bIns="0" rtlCol="0" anchor="ctr"/>
          <a:lstStyle/>
          <a:p>
            <a:pPr indent="0" marL="0">
              <a:buNone/>
            </a:pPr>
            <a:r>
              <a:rPr lang="en-US" sz="1400" b="1" dirty="0">
                <a:solidFill>
                  <a:schemeClr val="tx1"/>
                </a:solidFill>
              </a:rPr>
              <a:t>Worst steady-state error</a:t>
            </a:r>
            <a:endParaRPr lang="en-US" sz="1400" dirty="0"/>
          </a:p>
        </p:txBody>
      </p:sp>
      <p:sp>
        <p:nvSpPr>
          <p:cNvPr id="12" name="stat-value-21"/>
          <p:cNvSpPr txBox="1"/>
          <p:nvPr/>
        </p:nvSpPr>
        <p:spPr>
          <a:xfrm>
            <a:off x="3573704" y="2313432"/>
            <a:ext cx="2202104" cy="502920"/>
          </a:xfrm>
          <a:prstGeom prst="rect">
            <a:avLst/>
          </a:prstGeom>
          <a:noFill/>
          <a:ln/>
        </p:spPr>
        <p:txBody>
          <a:bodyPr wrap="square" lIns="0" tIns="0" rIns="0" bIns="0" rtlCol="0" anchor="ctr"/>
          <a:lstStyle/>
          <a:p>
            <a:pPr indent="0" marL="0">
              <a:buNone/>
            </a:pPr>
            <a:r>
              <a:rPr lang="en-US" sz="2400" b="1" dirty="0">
                <a:solidFill>
                  <a:schemeClr val="tx1"/>
                </a:solidFill>
              </a:rPr>
              <a:t>7.8° → 0.06°</a:t>
            </a:r>
            <a:endParaRPr lang="en-US" sz="2400" dirty="0"/>
          </a:p>
        </p:txBody>
      </p:sp>
      <p:sp>
        <p:nvSpPr>
          <p:cNvPr id="13" name="stat-desc-22"/>
          <p:cNvSpPr txBox="1"/>
          <p:nvPr/>
        </p:nvSpPr>
        <p:spPr>
          <a:xfrm>
            <a:off x="3573704" y="2862072"/>
            <a:ext cx="2202104" cy="612648"/>
          </a:xfrm>
          <a:prstGeom prst="rect">
            <a:avLst/>
          </a:prstGeom>
          <a:noFill/>
          <a:ln/>
        </p:spPr>
        <p:txBody>
          <a:bodyPr wrap="square" lIns="0" tIns="0" rIns="0" bIns="0" rtlCol="0" anchor="t"/>
          <a:lstStyle/>
          <a:p>
            <a:pPr indent="0" marL="0">
              <a:buNone/>
            </a:pPr>
            <a:r>
              <a:rPr lang="en-US" sz="1400" dirty="0">
                <a:solidFill>
                  <a:schemeClr val="accent6"/>
                </a:solidFill>
              </a:rPr>
              <a:t>Joint 2, Thesis PD → PSO-PID</a:t>
            </a:r>
            <a:endParaRPr lang="en-US" sz="1400" dirty="0"/>
          </a:p>
        </p:txBody>
      </p:sp>
      <p:sp>
        <p:nvSpPr>
          <p:cNvPr id="14" name="card-23"/>
          <p:cNvSpPr/>
          <p:nvPr/>
        </p:nvSpPr>
        <p:spPr>
          <a:xfrm>
            <a:off x="6233008" y="1783080"/>
            <a:ext cx="2567864" cy="1874520"/>
          </a:xfrm>
          <a:prstGeom prst="roundRect">
            <a:avLst>
              <a:gd name="adj" fmla="val 3902"/>
            </a:avLst>
          </a:prstGeom>
          <a:solidFill>
            <a:schemeClr val="bg2"/>
          </a:solidFill>
          <a:ln/>
        </p:spPr>
      </p:sp>
      <p:sp>
        <p:nvSpPr>
          <p:cNvPr id="15" name="dot-24"/>
          <p:cNvSpPr/>
          <p:nvPr/>
        </p:nvSpPr>
        <p:spPr>
          <a:xfrm>
            <a:off x="6415888" y="2029968"/>
            <a:ext cx="164592" cy="164592"/>
          </a:xfrm>
          <a:prstGeom prst="ellipse">
            <a:avLst/>
          </a:prstGeom>
          <a:solidFill>
            <a:schemeClr val="accent1"/>
          </a:solidFill>
          <a:ln/>
        </p:spPr>
      </p:sp>
      <p:sp>
        <p:nvSpPr>
          <p:cNvPr id="16" name="stat-label-25"/>
          <p:cNvSpPr txBox="1"/>
          <p:nvPr/>
        </p:nvSpPr>
        <p:spPr>
          <a:xfrm>
            <a:off x="6690208" y="1965960"/>
            <a:ext cx="1927784" cy="292608"/>
          </a:xfrm>
          <a:prstGeom prst="rect">
            <a:avLst/>
          </a:prstGeom>
          <a:noFill/>
          <a:ln/>
        </p:spPr>
        <p:txBody>
          <a:bodyPr wrap="square" lIns="0" tIns="0" rIns="0" bIns="0" rtlCol="0" anchor="ctr"/>
          <a:lstStyle/>
          <a:p>
            <a:pPr indent="0" marL="0">
              <a:buNone/>
            </a:pPr>
            <a:r>
              <a:rPr lang="en-US" sz="1400" b="1" dirty="0">
                <a:solidFill>
                  <a:schemeClr val="tx1"/>
                </a:solidFill>
              </a:rPr>
              <a:t>Seam-welding RMS error</a:t>
            </a:r>
            <a:endParaRPr lang="en-US" sz="1400" dirty="0"/>
          </a:p>
        </p:txBody>
      </p:sp>
      <p:sp>
        <p:nvSpPr>
          <p:cNvPr id="17" name="stat-value-26"/>
          <p:cNvSpPr txBox="1"/>
          <p:nvPr/>
        </p:nvSpPr>
        <p:spPr>
          <a:xfrm>
            <a:off x="6415888" y="2313432"/>
            <a:ext cx="2202104" cy="502920"/>
          </a:xfrm>
          <a:prstGeom prst="rect">
            <a:avLst/>
          </a:prstGeom>
          <a:noFill/>
          <a:ln/>
        </p:spPr>
        <p:txBody>
          <a:bodyPr wrap="square" lIns="0" tIns="0" rIns="0" bIns="0" rtlCol="0" anchor="ctr"/>
          <a:lstStyle/>
          <a:p>
            <a:pPr indent="0" marL="0">
              <a:buNone/>
            </a:pPr>
            <a:r>
              <a:rPr lang="en-US" sz="2400" b="1" dirty="0">
                <a:solidFill>
                  <a:schemeClr val="tx1"/>
                </a:solidFill>
              </a:rPr>
              <a:t>33.8 → 2.2 mm</a:t>
            </a:r>
            <a:endParaRPr lang="en-US" sz="2400" dirty="0"/>
          </a:p>
        </p:txBody>
      </p:sp>
      <p:sp>
        <p:nvSpPr>
          <p:cNvPr id="18" name="stat-desc-27"/>
          <p:cNvSpPr txBox="1"/>
          <p:nvPr/>
        </p:nvSpPr>
        <p:spPr>
          <a:xfrm>
            <a:off x="6415888" y="2862072"/>
            <a:ext cx="2202104" cy="612648"/>
          </a:xfrm>
          <a:prstGeom prst="rect">
            <a:avLst/>
          </a:prstGeom>
          <a:noFill/>
          <a:ln/>
        </p:spPr>
        <p:txBody>
          <a:bodyPr wrap="square" lIns="0" tIns="0" rIns="0" bIns="0" rtlCol="0" anchor="t"/>
          <a:lstStyle/>
          <a:p>
            <a:pPr indent="0" marL="0">
              <a:buNone/>
            </a:pPr>
            <a:r>
              <a:rPr lang="en-US" sz="1400" dirty="0">
                <a:solidFill>
                  <a:schemeClr val="accent6"/>
                </a:solidFill>
              </a:rPr>
              <a:t>Thesis PD → PSO-PID, local loop</a:t>
            </a:r>
            <a:endParaRPr lang="en-US" sz="1400" dirty="0"/>
          </a:p>
        </p:txBody>
      </p:sp>
      <p:sp>
        <p:nvSpPr>
          <p:cNvPr id="19" name="card-28"/>
          <p:cNvSpPr/>
          <p:nvPr/>
        </p:nvSpPr>
        <p:spPr>
          <a:xfrm>
            <a:off x="9075191" y="1783080"/>
            <a:ext cx="2567864" cy="1874520"/>
          </a:xfrm>
          <a:prstGeom prst="roundRect">
            <a:avLst>
              <a:gd name="adj" fmla="val 3902"/>
            </a:avLst>
          </a:prstGeom>
          <a:solidFill>
            <a:schemeClr val="bg2"/>
          </a:solidFill>
          <a:ln/>
        </p:spPr>
      </p:sp>
      <p:sp>
        <p:nvSpPr>
          <p:cNvPr id="20" name="dot-29"/>
          <p:cNvSpPr/>
          <p:nvPr/>
        </p:nvSpPr>
        <p:spPr>
          <a:xfrm>
            <a:off x="9258071" y="2029968"/>
            <a:ext cx="164592" cy="164592"/>
          </a:xfrm>
          <a:prstGeom prst="ellipse">
            <a:avLst/>
          </a:prstGeom>
          <a:solidFill>
            <a:schemeClr val="accent1"/>
          </a:solidFill>
          <a:ln/>
        </p:spPr>
      </p:sp>
      <p:sp>
        <p:nvSpPr>
          <p:cNvPr id="21" name="stat-label-30"/>
          <p:cNvSpPr txBox="1"/>
          <p:nvPr/>
        </p:nvSpPr>
        <p:spPr>
          <a:xfrm>
            <a:off x="9532391" y="1965960"/>
            <a:ext cx="1927784" cy="292608"/>
          </a:xfrm>
          <a:prstGeom prst="rect">
            <a:avLst/>
          </a:prstGeom>
          <a:noFill/>
          <a:ln/>
        </p:spPr>
        <p:txBody>
          <a:bodyPr wrap="square" lIns="0" tIns="0" rIns="0" bIns="0" rtlCol="0" anchor="ctr"/>
          <a:lstStyle/>
          <a:p>
            <a:pPr indent="0" marL="0">
              <a:buNone/>
            </a:pPr>
            <a:r>
              <a:rPr lang="en-US" sz="1400" b="1" dirty="0">
                <a:solidFill>
                  <a:schemeClr val="tx1"/>
                </a:solidFill>
              </a:rPr>
              <a:t>First unstable delay</a:t>
            </a:r>
            <a:endParaRPr lang="en-US" sz="1400" dirty="0"/>
          </a:p>
        </p:txBody>
      </p:sp>
      <p:sp>
        <p:nvSpPr>
          <p:cNvPr id="22" name="stat-value-31"/>
          <p:cNvSpPr txBox="1"/>
          <p:nvPr/>
        </p:nvSpPr>
        <p:spPr>
          <a:xfrm>
            <a:off x="9258071" y="2313432"/>
            <a:ext cx="2202104" cy="502920"/>
          </a:xfrm>
          <a:prstGeom prst="rect">
            <a:avLst/>
          </a:prstGeom>
          <a:noFill/>
          <a:ln/>
        </p:spPr>
        <p:txBody>
          <a:bodyPr wrap="square" lIns="0" tIns="0" rIns="0" bIns="0" rtlCol="0" anchor="ctr"/>
          <a:lstStyle/>
          <a:p>
            <a:pPr indent="0" marL="0">
              <a:buNone/>
            </a:pPr>
            <a:r>
              <a:rPr lang="en-US" sz="2400" b="1" dirty="0">
                <a:solidFill>
                  <a:schemeClr val="tx1"/>
                </a:solidFill>
              </a:rPr>
              <a:t>32.5 → 42.5 ms</a:t>
            </a:r>
            <a:endParaRPr lang="en-US" sz="2400" dirty="0"/>
          </a:p>
        </p:txBody>
      </p:sp>
      <p:sp>
        <p:nvSpPr>
          <p:cNvPr id="23" name="stat-desc-32"/>
          <p:cNvSpPr txBox="1"/>
          <p:nvPr/>
        </p:nvSpPr>
        <p:spPr>
          <a:xfrm>
            <a:off x="9258071" y="2862072"/>
            <a:ext cx="2202104" cy="612648"/>
          </a:xfrm>
          <a:prstGeom prst="rect">
            <a:avLst/>
          </a:prstGeom>
          <a:noFill/>
          <a:ln/>
        </p:spPr>
        <p:txBody>
          <a:bodyPr wrap="square" lIns="0" tIns="0" rIns="0" bIns="0" rtlCol="0" anchor="t"/>
          <a:lstStyle/>
          <a:p>
            <a:pPr indent="0" marL="0">
              <a:buNone/>
            </a:pPr>
            <a:r>
              <a:rPr lang="en-US" sz="1400" dirty="0">
                <a:solidFill>
                  <a:schemeClr val="accent6"/>
                </a:solidFill>
              </a:rPr>
              <a:t>Thesis PD → PSO-PID, delay sweep</a:t>
            </a:r>
            <a:endParaRPr lang="en-US" sz="1400" dirty="0"/>
          </a:p>
        </p:txBody>
      </p:sp>
      <p:sp>
        <p:nvSpPr>
          <p:cNvPr id="24" name="card-33"/>
          <p:cNvSpPr/>
          <p:nvPr/>
        </p:nvSpPr>
        <p:spPr>
          <a:xfrm>
            <a:off x="548640" y="3931920"/>
            <a:ext cx="5410048" cy="2240280"/>
          </a:xfrm>
          <a:prstGeom prst="roundRect">
            <a:avLst>
              <a:gd name="adj" fmla="val 3265"/>
            </a:avLst>
          </a:prstGeom>
          <a:solidFill>
            <a:schemeClr val="bg2"/>
          </a:solidFill>
          <a:ln/>
        </p:spPr>
      </p:sp>
      <p:sp>
        <p:nvSpPr>
          <p:cNvPr id="25" name="dot-34"/>
          <p:cNvSpPr/>
          <p:nvPr/>
        </p:nvSpPr>
        <p:spPr>
          <a:xfrm>
            <a:off x="822960" y="4233672"/>
            <a:ext cx="201168" cy="201168"/>
          </a:xfrm>
          <a:prstGeom prst="ellipse">
            <a:avLst/>
          </a:prstGeom>
          <a:solidFill>
            <a:schemeClr val="accent1"/>
          </a:solidFill>
          <a:ln/>
        </p:spPr>
      </p:sp>
      <p:sp>
        <p:nvSpPr>
          <p:cNvPr id="26" name="card-heading-35"/>
          <p:cNvSpPr txBox="1"/>
          <p:nvPr/>
        </p:nvSpPr>
        <p:spPr>
          <a:xfrm>
            <a:off x="1143000" y="4133088"/>
            <a:ext cx="4541368" cy="411480"/>
          </a:xfrm>
          <a:prstGeom prst="rect">
            <a:avLst/>
          </a:prstGeom>
          <a:noFill/>
          <a:ln/>
        </p:spPr>
        <p:txBody>
          <a:bodyPr wrap="square" lIns="0" tIns="0" rIns="0" bIns="0" rtlCol="0" anchor="ctr"/>
          <a:lstStyle/>
          <a:p>
            <a:pPr indent="0" marL="0">
              <a:buNone/>
            </a:pPr>
            <a:r>
              <a:rPr lang="en-US" sz="1800" b="1" dirty="0">
                <a:solidFill>
                  <a:schemeClr val="tx1"/>
                </a:solidFill>
              </a:rPr>
              <a:t>PSO-PID: best overall</a:t>
            </a:r>
            <a:endParaRPr lang="en-US" sz="1800" dirty="0"/>
          </a:p>
        </p:txBody>
      </p:sp>
      <p:sp>
        <p:nvSpPr>
          <p:cNvPr id="27" name="card-body-36"/>
          <p:cNvSpPr txBox="1"/>
          <p:nvPr/>
        </p:nvSpPr>
        <p:spPr>
          <a:xfrm>
            <a:off x="822960" y="4709160"/>
            <a:ext cx="4861408" cy="1280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Lowest cost: 1.05 (GA 1.47, thesis PD 18.54)</a:t>
            </a:r>
            <a:endParaRPr lang="en-US" sz="1500" dirty="0"/>
          </a:p>
          <a:p>
            <a:pPr marL="342900" indent="-342900">
              <a:spcAft>
                <a:spcPts val="800"/>
              </a:spcAft>
              <a:buSzPct val="100000"/>
              <a:buChar char="•"/>
            </a:pPr>
            <a:r>
              <a:rPr lang="en-US" sz="1500" dirty="0">
                <a:solidFill>
                  <a:schemeClr val="tx1"/>
                </a:solidFill>
              </a:rPr>
              <a:t>Stays stable up to 42.5 ms of loop delay</a:t>
            </a:r>
            <a:endParaRPr lang="en-US" sz="1500" dirty="0"/>
          </a:p>
          <a:p>
            <a:pPr marL="342900" indent="-342900">
              <a:spcAft>
                <a:spcPts val="800"/>
              </a:spcAft>
              <a:buSzPct val="100000"/>
              <a:buChar char="•"/>
            </a:pPr>
            <a:r>
              <a:rPr lang="en-US" sz="1500" dirty="0">
                <a:solidFill>
                  <a:schemeClr val="tx1"/>
                </a:solidFill>
              </a:rPr>
              <a:t>0-1.8 % overshoot over a 20 ms UDP loop</a:t>
            </a:r>
            <a:endParaRPr lang="en-US" sz="1500" dirty="0"/>
          </a:p>
        </p:txBody>
      </p:sp>
      <p:sp>
        <p:nvSpPr>
          <p:cNvPr id="28" name="card-37"/>
          <p:cNvSpPr/>
          <p:nvPr/>
        </p:nvSpPr>
        <p:spPr>
          <a:xfrm>
            <a:off x="6233008" y="3931920"/>
            <a:ext cx="5410048" cy="2240280"/>
          </a:xfrm>
          <a:prstGeom prst="roundRect">
            <a:avLst>
              <a:gd name="adj" fmla="val 3265"/>
            </a:avLst>
          </a:prstGeom>
          <a:solidFill>
            <a:schemeClr val="bg2"/>
          </a:solidFill>
          <a:ln/>
        </p:spPr>
      </p:sp>
      <p:sp>
        <p:nvSpPr>
          <p:cNvPr id="29" name="dot-38"/>
          <p:cNvSpPr/>
          <p:nvPr/>
        </p:nvSpPr>
        <p:spPr>
          <a:xfrm>
            <a:off x="6507328" y="4233672"/>
            <a:ext cx="201168" cy="201168"/>
          </a:xfrm>
          <a:prstGeom prst="ellipse">
            <a:avLst/>
          </a:prstGeom>
          <a:solidFill>
            <a:schemeClr val="accent2"/>
          </a:solidFill>
          <a:ln/>
        </p:spPr>
      </p:sp>
      <p:sp>
        <p:nvSpPr>
          <p:cNvPr id="30" name="card-heading-39"/>
          <p:cNvSpPr txBox="1"/>
          <p:nvPr/>
        </p:nvSpPr>
        <p:spPr>
          <a:xfrm>
            <a:off x="6827368" y="4133088"/>
            <a:ext cx="4541368" cy="411480"/>
          </a:xfrm>
          <a:prstGeom prst="rect">
            <a:avLst/>
          </a:prstGeom>
          <a:noFill/>
          <a:ln/>
        </p:spPr>
        <p:txBody>
          <a:bodyPr wrap="square" lIns="0" tIns="0" rIns="0" bIns="0" rtlCol="0" anchor="ctr"/>
          <a:lstStyle/>
          <a:p>
            <a:pPr indent="0" marL="0">
              <a:buNone/>
            </a:pPr>
            <a:r>
              <a:rPr lang="en-US" sz="1800" b="1" dirty="0">
                <a:solidFill>
                  <a:schemeClr val="tx1"/>
                </a:solidFill>
              </a:rPr>
              <a:t>GA-PID: close second</a:t>
            </a:r>
            <a:endParaRPr lang="en-US" sz="1800" dirty="0"/>
          </a:p>
        </p:txBody>
      </p:sp>
      <p:sp>
        <p:nvSpPr>
          <p:cNvPr id="31" name="card-body-40"/>
          <p:cNvSpPr txBox="1"/>
          <p:nvPr/>
        </p:nvSpPr>
        <p:spPr>
          <a:xfrm>
            <a:off x="6507328" y="4709160"/>
            <a:ext cx="4861408" cy="1280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Slightly lower seam error: 2.14 mm vs 2.17 mm</a:t>
            </a:r>
            <a:endParaRPr lang="en-US" sz="1500" dirty="0"/>
          </a:p>
          <a:p>
            <a:pPr marL="342900" indent="-342900">
              <a:spcAft>
                <a:spcPts val="800"/>
              </a:spcAft>
              <a:buSzPct val="100000"/>
              <a:buChar char="•"/>
            </a:pPr>
            <a:r>
              <a:rPr lang="en-US" sz="1500" dirty="0">
                <a:solidFill>
                  <a:schemeClr val="tx1"/>
                </a:solidFill>
              </a:rPr>
              <a:t>Less delay-robust: first unstable at 37.5 ms</a:t>
            </a:r>
            <a:endParaRPr lang="en-US" sz="1500" dirty="0"/>
          </a:p>
          <a:p>
            <a:pPr marL="342900" indent="-342900">
              <a:spcAft>
                <a:spcPts val="800"/>
              </a:spcAft>
              <a:buSzPct val="100000"/>
              <a:buChar char="•"/>
            </a:pPr>
            <a:r>
              <a:rPr lang="en-US" sz="1500" dirty="0">
                <a:solidFill>
                  <a:schemeClr val="tx1"/>
                </a:solidFill>
              </a:rPr>
              <a:t>Up to 4.1 % overshoot over a 20 ms UDP loop</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600" b="1" dirty="0">
                <a:solidFill>
                  <a:schemeClr val="tx1"/>
                </a:solidFill>
              </a:rPr>
              <a:t>Why retune the controllers?</a:t>
            </a:r>
            <a:endParaRPr lang="en-US" sz="36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6"/>
                </a:solidFill>
              </a:rPr>
              <a:t>The thesis PD design is well damped, but it cannot reject gravity and friction</a:t>
            </a:r>
            <a:endParaRPr lang="en-US" sz="1600" dirty="0"/>
          </a:p>
        </p:txBody>
      </p:sp>
      <p:sp>
        <p:nvSpPr>
          <p:cNvPr id="4" name="card-41"/>
          <p:cNvSpPr/>
          <p:nvPr/>
        </p:nvSpPr>
        <p:spPr>
          <a:xfrm>
            <a:off x="548640" y="1783080"/>
            <a:ext cx="3515258" cy="3017520"/>
          </a:xfrm>
          <a:prstGeom prst="roundRect">
            <a:avLst>
              <a:gd name="adj" fmla="val 2424"/>
            </a:avLst>
          </a:prstGeom>
          <a:solidFill>
            <a:schemeClr val="bg2"/>
          </a:solidFill>
          <a:ln/>
        </p:spPr>
      </p:sp>
      <p:sp>
        <p:nvSpPr>
          <p:cNvPr id="5" name="dot-42"/>
          <p:cNvSpPr/>
          <p:nvPr/>
        </p:nvSpPr>
        <p:spPr>
          <a:xfrm>
            <a:off x="822960" y="2084832"/>
            <a:ext cx="201168" cy="201168"/>
          </a:xfrm>
          <a:prstGeom prst="ellipse">
            <a:avLst/>
          </a:prstGeom>
          <a:solidFill>
            <a:schemeClr val="accent3"/>
          </a:solidFill>
          <a:ln/>
        </p:spPr>
      </p:sp>
      <p:sp>
        <p:nvSpPr>
          <p:cNvPr id="6" name="card-heading-43"/>
          <p:cNvSpPr txBox="1"/>
          <p:nvPr/>
        </p:nvSpPr>
        <p:spPr>
          <a:xfrm>
            <a:off x="1143000" y="1984248"/>
            <a:ext cx="2646578" cy="411480"/>
          </a:xfrm>
          <a:prstGeom prst="rect">
            <a:avLst/>
          </a:prstGeom>
          <a:noFill/>
          <a:ln/>
        </p:spPr>
        <p:txBody>
          <a:bodyPr wrap="square" lIns="0" tIns="0" rIns="0" bIns="0" rtlCol="0" anchor="ctr"/>
          <a:lstStyle/>
          <a:p>
            <a:pPr indent="0" marL="0">
              <a:buNone/>
            </a:pPr>
            <a:r>
              <a:rPr lang="en-US" sz="1800" b="1" dirty="0">
                <a:solidFill>
                  <a:schemeClr val="tx1"/>
                </a:solidFill>
              </a:rPr>
              <a:t>Thesis PD design</a:t>
            </a:r>
            <a:endParaRPr lang="en-US" sz="1800" dirty="0"/>
          </a:p>
        </p:txBody>
      </p:sp>
      <p:sp>
        <p:nvSpPr>
          <p:cNvPr id="7" name="card-body-44"/>
          <p:cNvSpPr txBox="1"/>
          <p:nvPr/>
        </p:nvSpPr>
        <p:spPr>
          <a:xfrm>
            <a:off x="822960" y="2560320"/>
            <a:ext cx="2966618" cy="20574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ωc = 35 rad/s, PM = 70°, delay margin 34.9 ms</a:t>
            </a:r>
            <a:endParaRPr lang="en-US" sz="1500" dirty="0"/>
          </a:p>
          <a:p>
            <a:pPr marL="342900" indent="-342900">
              <a:spcAft>
                <a:spcPts val="800"/>
              </a:spcAft>
              <a:buSzPct val="100000"/>
              <a:buChar char="•"/>
            </a:pPr>
            <a:r>
              <a:rPr lang="en-US" sz="1500" dirty="0">
                <a:solidFill>
                  <a:schemeClr val="tx1"/>
                </a:solidFill>
              </a:rPr>
              <a:t>Well damped, no overshoot</a:t>
            </a:r>
            <a:endParaRPr lang="en-US" sz="1500" dirty="0"/>
          </a:p>
          <a:p>
            <a:pPr marL="342900" indent="-342900">
              <a:spcAft>
                <a:spcPts val="800"/>
              </a:spcAft>
              <a:buSzPct val="100000"/>
              <a:buChar char="•"/>
            </a:pPr>
            <a:r>
              <a:rPr lang="en-US" sz="1500" dirty="0">
                <a:solidFill>
                  <a:schemeClr val="tx1"/>
                </a:solidFill>
              </a:rPr>
              <a:t>No integral action: gravity and friction leave 3.6-7.8° of steady-state error</a:t>
            </a:r>
            <a:endParaRPr lang="en-US" sz="1500" dirty="0"/>
          </a:p>
        </p:txBody>
      </p:sp>
      <p:sp>
        <p:nvSpPr>
          <p:cNvPr id="8" name="card-45"/>
          <p:cNvSpPr/>
          <p:nvPr/>
        </p:nvSpPr>
        <p:spPr>
          <a:xfrm>
            <a:off x="4338218" y="1783080"/>
            <a:ext cx="3515258" cy="3017520"/>
          </a:xfrm>
          <a:prstGeom prst="roundRect">
            <a:avLst>
              <a:gd name="adj" fmla="val 2424"/>
            </a:avLst>
          </a:prstGeom>
          <a:solidFill>
            <a:schemeClr val="bg2"/>
          </a:solidFill>
          <a:ln/>
        </p:spPr>
      </p:sp>
      <p:sp>
        <p:nvSpPr>
          <p:cNvPr id="9" name="dot-46"/>
          <p:cNvSpPr/>
          <p:nvPr/>
        </p:nvSpPr>
        <p:spPr>
          <a:xfrm>
            <a:off x="4612538" y="2084832"/>
            <a:ext cx="201168" cy="201168"/>
          </a:xfrm>
          <a:prstGeom prst="ellipse">
            <a:avLst/>
          </a:prstGeom>
          <a:solidFill>
            <a:schemeClr val="accent4"/>
          </a:solidFill>
          <a:ln/>
        </p:spPr>
      </p:sp>
      <p:sp>
        <p:nvSpPr>
          <p:cNvPr id="10" name="card-heading-47"/>
          <p:cNvSpPr txBox="1"/>
          <p:nvPr/>
        </p:nvSpPr>
        <p:spPr>
          <a:xfrm>
            <a:off x="4932578" y="1984248"/>
            <a:ext cx="2646578" cy="411480"/>
          </a:xfrm>
          <a:prstGeom prst="rect">
            <a:avLst/>
          </a:prstGeom>
          <a:noFill/>
          <a:ln/>
        </p:spPr>
        <p:txBody>
          <a:bodyPr wrap="square" lIns="0" tIns="0" rIns="0" bIns="0" rtlCol="0" anchor="ctr"/>
          <a:lstStyle/>
          <a:p>
            <a:pPr indent="0" marL="0">
              <a:buNone/>
            </a:pPr>
            <a:r>
              <a:rPr lang="en-US" sz="1800" b="1" dirty="0">
                <a:solidFill>
                  <a:schemeClr val="tx1"/>
                </a:solidFill>
              </a:rPr>
              <a:t>Manual QUARC PID</a:t>
            </a:r>
            <a:endParaRPr lang="en-US" sz="1800" dirty="0"/>
          </a:p>
        </p:txBody>
      </p:sp>
      <p:sp>
        <p:nvSpPr>
          <p:cNvPr id="11" name="card-body-48"/>
          <p:cNvSpPr txBox="1"/>
          <p:nvPr/>
        </p:nvSpPr>
        <p:spPr>
          <a:xfrm>
            <a:off x="4612538" y="2560320"/>
            <a:ext cx="2966618" cy="20574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Published for joint 1 only: Kp 2.73, Ki 1.20, Kd 0.081</a:t>
            </a:r>
            <a:endParaRPr lang="en-US" sz="1500" dirty="0"/>
          </a:p>
          <a:p>
            <a:pPr marL="342900" indent="-342900">
              <a:spcAft>
                <a:spcPts val="800"/>
              </a:spcAft>
              <a:buSzPct val="100000"/>
              <a:buChar char="•"/>
            </a:pPr>
            <a:r>
              <a:rPr lang="en-US" sz="1500" dirty="0">
                <a:solidFill>
                  <a:schemeClr val="tx1"/>
                </a:solidFill>
              </a:rPr>
              <a:t>Integral action cuts the error to 1.1°</a:t>
            </a:r>
            <a:endParaRPr lang="en-US" sz="1500" dirty="0"/>
          </a:p>
          <a:p>
            <a:pPr marL="342900" indent="-342900">
              <a:spcAft>
                <a:spcPts val="800"/>
              </a:spcAft>
              <a:buSzPct val="100000"/>
              <a:buChar char="•"/>
            </a:pPr>
            <a:r>
              <a:rPr lang="en-US" sz="1500" dirty="0">
                <a:solidFill>
                  <a:schemeClr val="tx1"/>
                </a:solidFill>
              </a:rPr>
              <a:t>PM 48°: 49.5 % overshoot once the loop runs over a 20 ms UDP link</a:t>
            </a:r>
            <a:endParaRPr lang="en-US" sz="1500" dirty="0"/>
          </a:p>
        </p:txBody>
      </p:sp>
      <p:sp>
        <p:nvSpPr>
          <p:cNvPr id="12" name="card-49"/>
          <p:cNvSpPr/>
          <p:nvPr/>
        </p:nvSpPr>
        <p:spPr>
          <a:xfrm>
            <a:off x="8127797" y="1783080"/>
            <a:ext cx="3515258" cy="3017520"/>
          </a:xfrm>
          <a:prstGeom prst="roundRect">
            <a:avLst>
              <a:gd name="adj" fmla="val 2424"/>
            </a:avLst>
          </a:prstGeom>
          <a:solidFill>
            <a:schemeClr val="bg2"/>
          </a:solidFill>
          <a:ln/>
        </p:spPr>
      </p:sp>
      <p:sp>
        <p:nvSpPr>
          <p:cNvPr id="13" name="dot-50"/>
          <p:cNvSpPr/>
          <p:nvPr/>
        </p:nvSpPr>
        <p:spPr>
          <a:xfrm>
            <a:off x="8402117" y="2084832"/>
            <a:ext cx="201168" cy="201168"/>
          </a:xfrm>
          <a:prstGeom prst="ellipse">
            <a:avLst/>
          </a:prstGeom>
          <a:solidFill>
            <a:schemeClr val="accent1"/>
          </a:solidFill>
          <a:ln/>
        </p:spPr>
      </p:sp>
      <p:sp>
        <p:nvSpPr>
          <p:cNvPr id="14" name="card-heading-51"/>
          <p:cNvSpPr txBox="1"/>
          <p:nvPr/>
        </p:nvSpPr>
        <p:spPr>
          <a:xfrm>
            <a:off x="8722157" y="1984248"/>
            <a:ext cx="2646578" cy="411480"/>
          </a:xfrm>
          <a:prstGeom prst="rect">
            <a:avLst/>
          </a:prstGeom>
          <a:noFill/>
          <a:ln/>
        </p:spPr>
        <p:txBody>
          <a:bodyPr wrap="square" lIns="0" tIns="0" rIns="0" bIns="0" rtlCol="0" anchor="ctr"/>
          <a:lstStyle/>
          <a:p>
            <a:pPr indent="0" marL="0">
              <a:buNone/>
            </a:pPr>
            <a:r>
              <a:rPr lang="en-US" sz="1800" b="1" dirty="0">
                <a:solidFill>
                  <a:schemeClr val="tx1"/>
                </a:solidFill>
              </a:rPr>
              <a:t>Goal of this work</a:t>
            </a:r>
            <a:endParaRPr lang="en-US" sz="1800" dirty="0"/>
          </a:p>
        </p:txBody>
      </p:sp>
      <p:sp>
        <p:nvSpPr>
          <p:cNvPr id="15" name="card-body-52"/>
          <p:cNvSpPr txBox="1"/>
          <p:nvPr/>
        </p:nvSpPr>
        <p:spPr>
          <a:xfrm>
            <a:off x="8402117" y="2560320"/>
            <a:ext cx="2966618" cy="20574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Search all 9 gains (Kp, Ki, Kd × 3 joints) automatically</a:t>
            </a:r>
            <a:endParaRPr lang="en-US" sz="1500" dirty="0"/>
          </a:p>
          <a:p>
            <a:pPr marL="342900" indent="-342900">
              <a:spcAft>
                <a:spcPts val="800"/>
              </a:spcAft>
              <a:buSzPct val="100000"/>
              <a:buChar char="•"/>
            </a:pPr>
            <a:r>
              <a:rPr lang="en-US" sz="1500" dirty="0">
                <a:solidFill>
                  <a:schemeClr val="tx1"/>
                </a:solidFill>
              </a:rPr>
              <a:t>Score every candidate with and without network delay</a:t>
            </a:r>
            <a:endParaRPr lang="en-US" sz="1500" dirty="0"/>
          </a:p>
          <a:p>
            <a:pPr marL="342900" indent="-342900">
              <a:spcAft>
                <a:spcPts val="800"/>
              </a:spcAft>
              <a:buSzPct val="100000"/>
              <a:buChar char="•"/>
            </a:pPr>
            <a:r>
              <a:rPr lang="en-US" sz="1500" dirty="0">
                <a:solidFill>
                  <a:schemeClr val="tx1"/>
                </a:solidFill>
              </a:rPr>
              <a:t>Compare PSO and GA on the same evaluation budget</a:t>
            </a:r>
            <a:endParaRPr lang="en-US" sz="1500" dirty="0"/>
          </a:p>
        </p:txBody>
      </p:sp>
      <p:sp>
        <p:nvSpPr>
          <p:cNvPr id="16" name="card-53"/>
          <p:cNvSpPr/>
          <p:nvPr/>
        </p:nvSpPr>
        <p:spPr>
          <a:xfrm>
            <a:off x="548640" y="5029200"/>
            <a:ext cx="3515258" cy="1143000"/>
          </a:xfrm>
          <a:prstGeom prst="roundRect">
            <a:avLst>
              <a:gd name="adj" fmla="val 6400"/>
            </a:avLst>
          </a:prstGeom>
          <a:solidFill>
            <a:schemeClr val="bg2"/>
          </a:solidFill>
          <a:ln/>
        </p:spPr>
      </p:sp>
      <p:sp>
        <p:nvSpPr>
          <p:cNvPr id="17" name="dot-54"/>
          <p:cNvSpPr/>
          <p:nvPr/>
        </p:nvSpPr>
        <p:spPr>
          <a:xfrm>
            <a:off x="731520" y="5248656"/>
            <a:ext cx="164592" cy="164592"/>
          </a:xfrm>
          <a:prstGeom prst="ellipse">
            <a:avLst/>
          </a:prstGeom>
          <a:solidFill>
            <a:schemeClr val="accent3"/>
          </a:solidFill>
          <a:ln/>
        </p:spPr>
      </p:sp>
      <p:sp>
        <p:nvSpPr>
          <p:cNvPr id="18" name="chip-label-55"/>
          <p:cNvSpPr txBox="1"/>
          <p:nvPr/>
        </p:nvSpPr>
        <p:spPr>
          <a:xfrm>
            <a:off x="1005840" y="5166360"/>
            <a:ext cx="2875178" cy="329184"/>
          </a:xfrm>
          <a:prstGeom prst="rect">
            <a:avLst/>
          </a:prstGeom>
          <a:noFill/>
          <a:ln/>
        </p:spPr>
        <p:txBody>
          <a:bodyPr wrap="square" lIns="0" tIns="0" rIns="0" bIns="0" rtlCol="0" anchor="ctr"/>
          <a:lstStyle/>
          <a:p>
            <a:pPr indent="0" marL="0">
              <a:buNone/>
            </a:pPr>
            <a:r>
              <a:rPr lang="en-US" sz="1400" b="1" dirty="0">
                <a:solidFill>
                  <a:schemeClr val="tx1"/>
                </a:solidFill>
              </a:rPr>
              <a:t>PD steady-state error</a:t>
            </a:r>
            <a:endParaRPr lang="en-US" sz="1400" dirty="0"/>
          </a:p>
        </p:txBody>
      </p:sp>
      <p:sp>
        <p:nvSpPr>
          <p:cNvPr id="19" name="chip-value-56"/>
          <p:cNvSpPr txBox="1"/>
          <p:nvPr/>
        </p:nvSpPr>
        <p:spPr>
          <a:xfrm>
            <a:off x="731520" y="5504688"/>
            <a:ext cx="3149498" cy="576072"/>
          </a:xfrm>
          <a:prstGeom prst="rect">
            <a:avLst/>
          </a:prstGeom>
          <a:noFill/>
          <a:ln/>
        </p:spPr>
        <p:txBody>
          <a:bodyPr wrap="square" lIns="0" tIns="0" rIns="0" bIns="0" rtlCol="0" anchor="ctr"/>
          <a:lstStyle/>
          <a:p>
            <a:pPr indent="0" marL="0">
              <a:buNone/>
            </a:pPr>
            <a:r>
              <a:rPr lang="en-US" sz="2400" b="1" dirty="0">
                <a:solidFill>
                  <a:schemeClr val="tx1"/>
                </a:solidFill>
              </a:rPr>
              <a:t>3.6-7.8°</a:t>
            </a:r>
            <a:endParaRPr lang="en-US" sz="2400" dirty="0"/>
          </a:p>
        </p:txBody>
      </p:sp>
      <p:sp>
        <p:nvSpPr>
          <p:cNvPr id="20" name="card-57"/>
          <p:cNvSpPr/>
          <p:nvPr/>
        </p:nvSpPr>
        <p:spPr>
          <a:xfrm>
            <a:off x="4338218" y="5029200"/>
            <a:ext cx="3515258" cy="1143000"/>
          </a:xfrm>
          <a:prstGeom prst="roundRect">
            <a:avLst>
              <a:gd name="adj" fmla="val 6400"/>
            </a:avLst>
          </a:prstGeom>
          <a:solidFill>
            <a:schemeClr val="bg2"/>
          </a:solidFill>
          <a:ln/>
        </p:spPr>
      </p:sp>
      <p:sp>
        <p:nvSpPr>
          <p:cNvPr id="21" name="dot-58"/>
          <p:cNvSpPr/>
          <p:nvPr/>
        </p:nvSpPr>
        <p:spPr>
          <a:xfrm>
            <a:off x="4521098" y="5248656"/>
            <a:ext cx="164592" cy="164592"/>
          </a:xfrm>
          <a:prstGeom prst="ellipse">
            <a:avLst/>
          </a:prstGeom>
          <a:solidFill>
            <a:schemeClr val="accent4"/>
          </a:solidFill>
          <a:ln/>
        </p:spPr>
      </p:sp>
      <p:sp>
        <p:nvSpPr>
          <p:cNvPr id="22" name="chip-label-59"/>
          <p:cNvSpPr txBox="1"/>
          <p:nvPr/>
        </p:nvSpPr>
        <p:spPr>
          <a:xfrm>
            <a:off x="4795418" y="5166360"/>
            <a:ext cx="2875178" cy="329184"/>
          </a:xfrm>
          <a:prstGeom prst="rect">
            <a:avLst/>
          </a:prstGeom>
          <a:noFill/>
          <a:ln/>
        </p:spPr>
        <p:txBody>
          <a:bodyPr wrap="square" lIns="0" tIns="0" rIns="0" bIns="0" rtlCol="0" anchor="ctr"/>
          <a:lstStyle/>
          <a:p>
            <a:pPr indent="0" marL="0">
              <a:buNone/>
            </a:pPr>
            <a:r>
              <a:rPr lang="en-US" sz="1400" b="1" dirty="0">
                <a:solidFill>
                  <a:schemeClr val="tx1"/>
                </a:solidFill>
              </a:rPr>
              <a:t>QUARC overshoot, 20 ms delay</a:t>
            </a:r>
            <a:endParaRPr lang="en-US" sz="1400" dirty="0"/>
          </a:p>
        </p:txBody>
      </p:sp>
      <p:sp>
        <p:nvSpPr>
          <p:cNvPr id="23" name="chip-value-60"/>
          <p:cNvSpPr txBox="1"/>
          <p:nvPr/>
        </p:nvSpPr>
        <p:spPr>
          <a:xfrm>
            <a:off x="4521098" y="5504688"/>
            <a:ext cx="3149498" cy="576072"/>
          </a:xfrm>
          <a:prstGeom prst="rect">
            <a:avLst/>
          </a:prstGeom>
          <a:noFill/>
          <a:ln/>
        </p:spPr>
        <p:txBody>
          <a:bodyPr wrap="square" lIns="0" tIns="0" rIns="0" bIns="0" rtlCol="0" anchor="ctr"/>
          <a:lstStyle/>
          <a:p>
            <a:pPr indent="0" marL="0">
              <a:buNone/>
            </a:pPr>
            <a:r>
              <a:rPr lang="en-US" sz="2400" b="1" dirty="0">
                <a:solidFill>
                  <a:schemeClr val="tx1"/>
                </a:solidFill>
              </a:rPr>
              <a:t>49.5 %</a:t>
            </a:r>
            <a:endParaRPr lang="en-US" sz="2400" dirty="0"/>
          </a:p>
        </p:txBody>
      </p:sp>
      <p:sp>
        <p:nvSpPr>
          <p:cNvPr id="24" name="card-61"/>
          <p:cNvSpPr/>
          <p:nvPr/>
        </p:nvSpPr>
        <p:spPr>
          <a:xfrm>
            <a:off x="8127797" y="5029200"/>
            <a:ext cx="3515258" cy="1143000"/>
          </a:xfrm>
          <a:prstGeom prst="roundRect">
            <a:avLst>
              <a:gd name="adj" fmla="val 6400"/>
            </a:avLst>
          </a:prstGeom>
          <a:solidFill>
            <a:schemeClr val="bg2"/>
          </a:solidFill>
          <a:ln/>
        </p:spPr>
      </p:sp>
      <p:sp>
        <p:nvSpPr>
          <p:cNvPr id="25" name="dot-62"/>
          <p:cNvSpPr/>
          <p:nvPr/>
        </p:nvSpPr>
        <p:spPr>
          <a:xfrm>
            <a:off x="8310677" y="5248656"/>
            <a:ext cx="164592" cy="164592"/>
          </a:xfrm>
          <a:prstGeom prst="ellipse">
            <a:avLst/>
          </a:prstGeom>
          <a:solidFill>
            <a:schemeClr val="accent1"/>
          </a:solidFill>
          <a:ln/>
        </p:spPr>
      </p:sp>
      <p:sp>
        <p:nvSpPr>
          <p:cNvPr id="26" name="chip-label-63"/>
          <p:cNvSpPr txBox="1"/>
          <p:nvPr/>
        </p:nvSpPr>
        <p:spPr>
          <a:xfrm>
            <a:off x="8584997" y="5166360"/>
            <a:ext cx="2875178" cy="329184"/>
          </a:xfrm>
          <a:prstGeom prst="rect">
            <a:avLst/>
          </a:prstGeom>
          <a:noFill/>
          <a:ln/>
        </p:spPr>
        <p:txBody>
          <a:bodyPr wrap="square" lIns="0" tIns="0" rIns="0" bIns="0" rtlCol="0" anchor="ctr"/>
          <a:lstStyle/>
          <a:p>
            <a:pPr indent="0" marL="0">
              <a:buNone/>
            </a:pPr>
            <a:r>
              <a:rPr lang="en-US" sz="1400" b="1" dirty="0">
                <a:solidFill>
                  <a:schemeClr val="tx1"/>
                </a:solidFill>
              </a:rPr>
              <a:t>Gains searched</a:t>
            </a:r>
            <a:endParaRPr lang="en-US" sz="1400" dirty="0"/>
          </a:p>
        </p:txBody>
      </p:sp>
      <p:sp>
        <p:nvSpPr>
          <p:cNvPr id="27" name="chip-value-64"/>
          <p:cNvSpPr txBox="1"/>
          <p:nvPr/>
        </p:nvSpPr>
        <p:spPr>
          <a:xfrm>
            <a:off x="8310677" y="5504688"/>
            <a:ext cx="3149498" cy="576072"/>
          </a:xfrm>
          <a:prstGeom prst="rect">
            <a:avLst/>
          </a:prstGeom>
          <a:noFill/>
          <a:ln/>
        </p:spPr>
        <p:txBody>
          <a:bodyPr wrap="square" lIns="0" tIns="0" rIns="0" bIns="0" rtlCol="0" anchor="ctr"/>
          <a:lstStyle/>
          <a:p>
            <a:pPr indent="0" marL="0">
              <a:buNone/>
            </a:pPr>
            <a:r>
              <a:rPr lang="en-US" sz="2400" b="1" dirty="0">
                <a:solidFill>
                  <a:schemeClr val="tx1"/>
                </a:solidFill>
              </a:rPr>
              <a:t>9 (3 per joint)</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600" b="1" dirty="0">
                <a:solidFill>
                  <a:schemeClr val="tx1"/>
                </a:solidFill>
              </a:rPr>
              <a:t>Kinematic model</a:t>
            </a:r>
            <a:endParaRPr lang="en-US" sz="36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6"/>
                </a:solidFill>
              </a:rPr>
              <a:t>Three active joints, two 131 mm links, guarded by a workspace safety shell</a:t>
            </a:r>
            <a:endParaRPr lang="en-US" sz="1600" dirty="0"/>
          </a:p>
        </p:txBody>
      </p:sp>
      <p:graphicFrame>
        <p:nvGraphicFramePr>
          <p:cNvPr id="5" name="dh-table"/>
          <p:cNvGraphicFramePr>
            <a:graphicFrameLocks noGrp="1"/>
          </p:cNvGraphicFramePr>
          <p:nvPr>
            <p:extLst>
              <p:ext uri="{D42A27DB-BD31-4B8C-83A1-F6EECF244321}">
                <p14:modId xmlns:p14="http://schemas.microsoft.com/office/powerpoint/2010/main" val="1579011935"/>
              </p:ext>
            </p:extLst>
          </p:nvPr>
        </p:nvGraphicFramePr>
        <p:xfrm>
          <a:off x="548640" y="1783080"/>
          <a:ext cx="6309360" cy="914400"/>
        </p:xfrm>
        <a:graphic>
          <a:graphicData uri="http://schemas.openxmlformats.org/drawingml/2006/table">
            <a:tbl>
              <a:tblPr/>
              <a:tblGrid>
                <a:gridCol w="1554480"/>
                <a:gridCol w="1188720"/>
                <a:gridCol w="1005840"/>
                <a:gridCol w="1371600"/>
                <a:gridCol w="1188720"/>
              </a:tblGrid>
              <a:tr h="457200">
                <a:tc>
                  <a:txBody>
                    <a:bodyPr/>
                    <a:lstStyle/>
                    <a:p>
                      <a:pPr indent="0" marL="0">
                        <a:buNone/>
                      </a:pPr>
                      <a:r>
                        <a:rPr lang="en-US" sz="1400" b="1" dirty="0">
                          <a:solidFill>
                            <a:schemeClr val="bg1"/>
                          </a:solidFill>
                        </a:rPr>
                        <a:t>Joint</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θi</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di [m]</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ai [m]</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αi [rad]</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tx1"/>
                          </a:solidFill>
                        </a:rPr>
                        <a:t>1 (base)</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indent="0" marL="0">
                        <a:buNone/>
                      </a:pPr>
                      <a:r>
                        <a:rPr lang="en-US" sz="1400" dirty="0">
                          <a:solidFill>
                            <a:schemeClr val="tx1"/>
                          </a:solidFill>
                        </a:rPr>
                        <a:t>q1</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indent="0" marL="0">
                        <a:buNone/>
                      </a:pPr>
                      <a:r>
                        <a:rPr lang="en-US" sz="1400" dirty="0">
                          <a:solidFill>
                            <a:schemeClr val="tx1"/>
                          </a:solidFill>
                        </a:rPr>
                        <a:t>0</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indent="0" marL="0">
                        <a:buNone/>
                      </a:pPr>
                      <a:r>
                        <a:rPr lang="en-US" sz="1400" dirty="0">
                          <a:solidFill>
                            <a:schemeClr val="tx1"/>
                          </a:solidFill>
                        </a:rPr>
                        <a:t>0</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indent="0" marL="0">
                        <a:buNone/>
                      </a:pPr>
                      <a:r>
                        <a:rPr lang="en-US" sz="1400" dirty="0">
                          <a:solidFill>
                            <a:schemeClr val="tx1"/>
                          </a:solidFill>
                        </a:rPr>
                        <a:t>-π/2</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r>
              <a:tr h="457200">
                <a:tc>
                  <a:txBody>
                    <a:bodyPr/>
                    <a:lstStyle/>
                    <a:p>
                      <a:pPr indent="0" marL="0">
                        <a:buNone/>
                      </a:pPr>
                      <a:r>
                        <a:rPr lang="en-US" sz="1400" dirty="0">
                          <a:solidFill>
                            <a:schemeClr val="tx1"/>
                          </a:solidFill>
                        </a:rPr>
                        <a:t>2 (shoulder)</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indent="0" marL="0">
                        <a:buNone/>
                      </a:pPr>
                      <a:r>
                        <a:rPr lang="en-US" sz="1400" dirty="0">
                          <a:solidFill>
                            <a:schemeClr val="tx1"/>
                          </a:solidFill>
                        </a:rPr>
                        <a:t>q2</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indent="0" marL="0">
                        <a:buNone/>
                      </a:pPr>
                      <a:r>
                        <a:rPr lang="en-US" sz="1400" dirty="0">
                          <a:solidFill>
                            <a:schemeClr val="tx1"/>
                          </a:solidFill>
                        </a:rPr>
                        <a:t>0</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indent="0" marL="0">
                        <a:buNone/>
                      </a:pPr>
                      <a:r>
                        <a:rPr lang="en-US" sz="1400" dirty="0">
                          <a:solidFill>
                            <a:schemeClr val="tx1"/>
                          </a:solidFill>
                        </a:rPr>
                        <a:t>L1 = 0.131</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indent="0" marL="0">
                        <a:buNone/>
                      </a:pPr>
                      <a:r>
                        <a:rPr lang="en-US" sz="1400" dirty="0">
                          <a:solidFill>
                            <a:schemeClr val="tx1"/>
                          </a:solidFill>
                        </a:rPr>
                        <a:t>0</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r>
              <a:tr h="457200">
                <a:tc>
                  <a:txBody>
                    <a:bodyPr/>
                    <a:lstStyle/>
                    <a:p>
                      <a:pPr indent="0" marL="0">
                        <a:buNone/>
                      </a:pPr>
                      <a:r>
                        <a:rPr lang="en-US" sz="1400" dirty="0">
                          <a:solidFill>
                            <a:schemeClr val="tx1"/>
                          </a:solidFill>
                        </a:rPr>
                        <a:t>3 (elbow)</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indent="0" marL="0">
                        <a:buNone/>
                      </a:pPr>
                      <a:r>
                        <a:rPr lang="en-US" sz="1400" dirty="0">
                          <a:solidFill>
                            <a:schemeClr val="tx1"/>
                          </a:solidFill>
                        </a:rPr>
                        <a:t>q3 - π/2</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indent="0" marL="0">
                        <a:buNone/>
                      </a:pPr>
                      <a:r>
                        <a:rPr lang="en-US" sz="1400" dirty="0">
                          <a:solidFill>
                            <a:schemeClr val="tx1"/>
                          </a:solidFill>
                        </a:rPr>
                        <a:t>0</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indent="0" marL="0">
                        <a:buNone/>
                      </a:pPr>
                      <a:r>
                        <a:rPr lang="en-US" sz="1400" dirty="0">
                          <a:solidFill>
                            <a:schemeClr val="tx1"/>
                          </a:solidFill>
                        </a:rPr>
                        <a:t>L2 = 0.131</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indent="0" marL="0">
                        <a:buNone/>
                      </a:pPr>
                      <a:r>
                        <a:rPr lang="en-US" sz="1400" dirty="0">
                          <a:solidFill>
                            <a:schemeClr val="tx1"/>
                          </a:solidFill>
                        </a:rPr>
                        <a:t>0</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r>
            </a:tbl>
          </a:graphicData>
        </a:graphic>
      </p:graphicFrame>
      <p:sp>
        <p:nvSpPr>
          <p:cNvPr id="5" name="card-65"/>
          <p:cNvSpPr/>
          <p:nvPr/>
        </p:nvSpPr>
        <p:spPr>
          <a:xfrm>
            <a:off x="548640" y="3886200"/>
            <a:ext cx="6309360" cy="2286000"/>
          </a:xfrm>
          <a:prstGeom prst="roundRect">
            <a:avLst>
              <a:gd name="adj" fmla="val 3200"/>
            </a:avLst>
          </a:prstGeom>
          <a:solidFill>
            <a:schemeClr val="bg2"/>
          </a:solidFill>
          <a:ln/>
        </p:spPr>
      </p:sp>
      <p:sp>
        <p:nvSpPr>
          <p:cNvPr id="6" name="fk-heading"/>
          <p:cNvSpPr txBox="1"/>
          <p:nvPr/>
        </p:nvSpPr>
        <p:spPr>
          <a:xfrm>
            <a:off x="822960" y="4069080"/>
            <a:ext cx="5760720" cy="365760"/>
          </a:xfrm>
          <a:prstGeom prst="rect">
            <a:avLst/>
          </a:prstGeom>
          <a:noFill/>
          <a:ln/>
        </p:spPr>
        <p:txBody>
          <a:bodyPr wrap="square" lIns="0" tIns="0" rIns="0" bIns="0" rtlCol="0" anchor="ctr"/>
          <a:lstStyle/>
          <a:p>
            <a:pPr indent="0" marL="0">
              <a:buNone/>
            </a:pPr>
            <a:r>
              <a:rPr lang="en-US" sz="1600" b="1" dirty="0">
                <a:solidFill>
                  <a:schemeClr val="tx1"/>
                </a:solidFill>
              </a:rPr>
              <a:t>Forward kinematics</a:t>
            </a:r>
            <a:endParaRPr lang="en-US" sz="1600" dirty="0"/>
          </a:p>
        </p:txBody>
      </p:sp>
      <p:sp>
        <p:nvSpPr>
          <p:cNvPr id="7" name="fk-eqs"/>
          <p:cNvSpPr txBox="1"/>
          <p:nvPr/>
        </p:nvSpPr>
        <p:spPr>
          <a:xfrm>
            <a:off x="822960" y="4526280"/>
            <a:ext cx="5760720" cy="146304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x = (L1 cos q2 + L2 cos(q2 + q3)) cos q1</a:t>
            </a:r>
            <a:endParaRPr lang="en-US" sz="1500" dirty="0"/>
          </a:p>
          <a:p>
            <a:pPr indent="0" marL="0">
              <a:spcAft>
                <a:spcPts val="600"/>
              </a:spcAft>
              <a:buNone/>
            </a:pPr>
            <a:r>
              <a:rPr lang="en-US" sz="1500" dirty="0">
                <a:solidFill>
                  <a:schemeClr val="tx1"/>
                </a:solidFill>
              </a:rPr>
              <a:t>y = (L1 cos q2 + L2 cos(q2 + q3)) sin q1</a:t>
            </a:r>
            <a:endParaRPr lang="en-US" sz="1500" dirty="0"/>
          </a:p>
          <a:p>
            <a:pPr indent="0" marL="0">
              <a:spcAft>
                <a:spcPts val="600"/>
              </a:spcAft>
              <a:buNone/>
            </a:pPr>
            <a:r>
              <a:rPr lang="en-US" sz="1500" dirty="0">
                <a:solidFill>
                  <a:schemeClr val="tx1"/>
                </a:solidFill>
              </a:rPr>
              <a:t>z = -L1 sin q2 - L2 sin(q2 + q3)</a:t>
            </a:r>
            <a:endParaRPr lang="en-US" sz="1500" dirty="0"/>
          </a:p>
        </p:txBody>
      </p:sp>
      <p:sp>
        <p:nvSpPr>
          <p:cNvPr id="8" name="card-66"/>
          <p:cNvSpPr/>
          <p:nvPr/>
        </p:nvSpPr>
        <p:spPr>
          <a:xfrm>
            <a:off x="7223760" y="1783080"/>
            <a:ext cx="4419295" cy="914400"/>
          </a:xfrm>
          <a:prstGeom prst="roundRect">
            <a:avLst>
              <a:gd name="adj" fmla="val 8000"/>
            </a:avLst>
          </a:prstGeom>
          <a:solidFill>
            <a:schemeClr val="bg2"/>
          </a:solidFill>
          <a:ln/>
        </p:spPr>
      </p:sp>
      <p:sp>
        <p:nvSpPr>
          <p:cNvPr id="9" name="dot-67"/>
          <p:cNvSpPr/>
          <p:nvPr/>
        </p:nvSpPr>
        <p:spPr>
          <a:xfrm>
            <a:off x="7406640" y="2002536"/>
            <a:ext cx="164592" cy="164592"/>
          </a:xfrm>
          <a:prstGeom prst="ellipse">
            <a:avLst/>
          </a:prstGeom>
          <a:solidFill>
            <a:schemeClr val="accent6"/>
          </a:solidFill>
          <a:ln/>
        </p:spPr>
      </p:sp>
      <p:sp>
        <p:nvSpPr>
          <p:cNvPr id="10" name="chip-label-68"/>
          <p:cNvSpPr txBox="1"/>
          <p:nvPr/>
        </p:nvSpPr>
        <p:spPr>
          <a:xfrm>
            <a:off x="7680960" y="1920240"/>
            <a:ext cx="3779215" cy="329184"/>
          </a:xfrm>
          <a:prstGeom prst="rect">
            <a:avLst/>
          </a:prstGeom>
          <a:noFill/>
          <a:ln/>
        </p:spPr>
        <p:txBody>
          <a:bodyPr wrap="square" lIns="0" tIns="0" rIns="0" bIns="0" rtlCol="0" anchor="ctr"/>
          <a:lstStyle/>
          <a:p>
            <a:pPr indent="0" marL="0">
              <a:buNone/>
            </a:pPr>
            <a:r>
              <a:rPr lang="en-US" sz="1400" b="1" dirty="0">
                <a:solidFill>
                  <a:schemeClr val="tx1"/>
                </a:solidFill>
              </a:rPr>
              <a:t>Workspace shell</a:t>
            </a:r>
            <a:endParaRPr lang="en-US" sz="1400" dirty="0"/>
          </a:p>
        </p:txBody>
      </p:sp>
      <p:sp>
        <p:nvSpPr>
          <p:cNvPr id="11" name="chip-value-69"/>
          <p:cNvSpPr txBox="1"/>
          <p:nvPr/>
        </p:nvSpPr>
        <p:spPr>
          <a:xfrm>
            <a:off x="7406640" y="2258568"/>
            <a:ext cx="4053535" cy="347472"/>
          </a:xfrm>
          <a:prstGeom prst="rect">
            <a:avLst/>
          </a:prstGeom>
          <a:noFill/>
          <a:ln/>
        </p:spPr>
        <p:txBody>
          <a:bodyPr wrap="square" lIns="0" tIns="0" rIns="0" bIns="0" rtlCol="0" anchor="ctr"/>
          <a:lstStyle/>
          <a:p>
            <a:pPr indent="0" marL="0">
              <a:buNone/>
            </a:pPr>
            <a:r>
              <a:rPr lang="en-US" sz="1800" b="1" dirty="0">
                <a:solidFill>
                  <a:schemeClr val="tx1"/>
                </a:solidFill>
              </a:rPr>
              <a:t>0.05 m ≤ r ≤ 0.25 m</a:t>
            </a:r>
            <a:endParaRPr lang="en-US" sz="1800" dirty="0"/>
          </a:p>
        </p:txBody>
      </p:sp>
      <p:sp>
        <p:nvSpPr>
          <p:cNvPr id="12" name="card-70"/>
          <p:cNvSpPr/>
          <p:nvPr/>
        </p:nvSpPr>
        <p:spPr>
          <a:xfrm>
            <a:off x="7223760" y="2926080"/>
            <a:ext cx="4419295" cy="914400"/>
          </a:xfrm>
          <a:prstGeom prst="roundRect">
            <a:avLst>
              <a:gd name="adj" fmla="val 8000"/>
            </a:avLst>
          </a:prstGeom>
          <a:solidFill>
            <a:schemeClr val="bg2"/>
          </a:solidFill>
          <a:ln/>
        </p:spPr>
      </p:sp>
      <p:sp>
        <p:nvSpPr>
          <p:cNvPr id="13" name="dot-71"/>
          <p:cNvSpPr/>
          <p:nvPr/>
        </p:nvSpPr>
        <p:spPr>
          <a:xfrm>
            <a:off x="7406640" y="3145536"/>
            <a:ext cx="164592" cy="164592"/>
          </a:xfrm>
          <a:prstGeom prst="ellipse">
            <a:avLst/>
          </a:prstGeom>
          <a:solidFill>
            <a:schemeClr val="accent6"/>
          </a:solidFill>
          <a:ln/>
        </p:spPr>
      </p:sp>
      <p:sp>
        <p:nvSpPr>
          <p:cNvPr id="14" name="chip-label-72"/>
          <p:cNvSpPr txBox="1"/>
          <p:nvPr/>
        </p:nvSpPr>
        <p:spPr>
          <a:xfrm>
            <a:off x="7680960" y="3063240"/>
            <a:ext cx="3779215" cy="329184"/>
          </a:xfrm>
          <a:prstGeom prst="rect">
            <a:avLst/>
          </a:prstGeom>
          <a:noFill/>
          <a:ln/>
        </p:spPr>
        <p:txBody>
          <a:bodyPr wrap="square" lIns="0" tIns="0" rIns="0" bIns="0" rtlCol="0" anchor="ctr"/>
          <a:lstStyle/>
          <a:p>
            <a:pPr indent="0" marL="0">
              <a:buNone/>
            </a:pPr>
            <a:r>
              <a:rPr lang="en-US" sz="1400" b="1" dirty="0">
                <a:solidFill>
                  <a:schemeClr val="tx1"/>
                </a:solidFill>
              </a:rPr>
              <a:t>Max step jump</a:t>
            </a:r>
            <a:endParaRPr lang="en-US" sz="1400" dirty="0"/>
          </a:p>
        </p:txBody>
      </p:sp>
      <p:sp>
        <p:nvSpPr>
          <p:cNvPr id="15" name="chip-value-73"/>
          <p:cNvSpPr txBox="1"/>
          <p:nvPr/>
        </p:nvSpPr>
        <p:spPr>
          <a:xfrm>
            <a:off x="7406640" y="3401568"/>
            <a:ext cx="4053535" cy="347472"/>
          </a:xfrm>
          <a:prstGeom prst="rect">
            <a:avLst/>
          </a:prstGeom>
          <a:noFill/>
          <a:ln/>
        </p:spPr>
        <p:txBody>
          <a:bodyPr wrap="square" lIns="0" tIns="0" rIns="0" bIns="0" rtlCol="0" anchor="ctr"/>
          <a:lstStyle/>
          <a:p>
            <a:pPr indent="0" marL="0">
              <a:buNone/>
            </a:pPr>
            <a:r>
              <a:rPr lang="en-US" sz="1800" b="1" dirty="0">
                <a:solidFill>
                  <a:schemeClr val="tx1"/>
                </a:solidFill>
              </a:rPr>
              <a:t>0.15 m between targets</a:t>
            </a:r>
            <a:endParaRPr lang="en-US" sz="1800" dirty="0"/>
          </a:p>
        </p:txBody>
      </p:sp>
      <p:sp>
        <p:nvSpPr>
          <p:cNvPr id="16" name="card-74"/>
          <p:cNvSpPr/>
          <p:nvPr/>
        </p:nvSpPr>
        <p:spPr>
          <a:xfrm>
            <a:off x="7223760" y="4069080"/>
            <a:ext cx="4419295" cy="914400"/>
          </a:xfrm>
          <a:prstGeom prst="roundRect">
            <a:avLst>
              <a:gd name="adj" fmla="val 8000"/>
            </a:avLst>
          </a:prstGeom>
          <a:solidFill>
            <a:schemeClr val="bg2"/>
          </a:solidFill>
          <a:ln/>
        </p:spPr>
      </p:sp>
      <p:sp>
        <p:nvSpPr>
          <p:cNvPr id="17" name="dot-75"/>
          <p:cNvSpPr/>
          <p:nvPr/>
        </p:nvSpPr>
        <p:spPr>
          <a:xfrm>
            <a:off x="7406640" y="4288536"/>
            <a:ext cx="164592" cy="164592"/>
          </a:xfrm>
          <a:prstGeom prst="ellipse">
            <a:avLst/>
          </a:prstGeom>
          <a:solidFill>
            <a:schemeClr val="accent6"/>
          </a:solidFill>
          <a:ln/>
        </p:spPr>
      </p:sp>
      <p:sp>
        <p:nvSpPr>
          <p:cNvPr id="18" name="chip-label-76"/>
          <p:cNvSpPr txBox="1"/>
          <p:nvPr/>
        </p:nvSpPr>
        <p:spPr>
          <a:xfrm>
            <a:off x="7680960" y="4206240"/>
            <a:ext cx="3779215" cy="329184"/>
          </a:xfrm>
          <a:prstGeom prst="rect">
            <a:avLst/>
          </a:prstGeom>
          <a:noFill/>
          <a:ln/>
        </p:spPr>
        <p:txBody>
          <a:bodyPr wrap="square" lIns="0" tIns="0" rIns="0" bIns="0" rtlCol="0" anchor="ctr"/>
          <a:lstStyle/>
          <a:p>
            <a:pPr indent="0" marL="0">
              <a:buNone/>
            </a:pPr>
            <a:r>
              <a:rPr lang="en-US" sz="1400" b="1" dirty="0">
                <a:solidFill>
                  <a:schemeClr val="tx1"/>
                </a:solidFill>
              </a:rPr>
              <a:t>Inverse kinematics</a:t>
            </a:r>
            <a:endParaRPr lang="en-US" sz="1400" dirty="0"/>
          </a:p>
        </p:txBody>
      </p:sp>
      <p:sp>
        <p:nvSpPr>
          <p:cNvPr id="19" name="chip-value-77"/>
          <p:cNvSpPr txBox="1"/>
          <p:nvPr/>
        </p:nvSpPr>
        <p:spPr>
          <a:xfrm>
            <a:off x="7406640" y="4544568"/>
            <a:ext cx="4053535" cy="347472"/>
          </a:xfrm>
          <a:prstGeom prst="rect">
            <a:avLst/>
          </a:prstGeom>
          <a:noFill/>
          <a:ln/>
        </p:spPr>
        <p:txBody>
          <a:bodyPr wrap="square" lIns="0" tIns="0" rIns="0" bIns="0" rtlCol="0" anchor="ctr"/>
          <a:lstStyle/>
          <a:p>
            <a:pPr indent="0" marL="0">
              <a:buNone/>
            </a:pPr>
            <a:r>
              <a:rPr lang="en-US" sz="1800" b="1" dirty="0">
                <a:solidFill>
                  <a:schemeClr val="tx1"/>
                </a:solidFill>
              </a:rPr>
              <a:t>Closed form, elbow-up</a:t>
            </a:r>
            <a:endParaRPr lang="en-US" sz="1800" dirty="0"/>
          </a:p>
        </p:txBody>
      </p:sp>
      <p:sp>
        <p:nvSpPr>
          <p:cNvPr id="20" name="card-78"/>
          <p:cNvSpPr/>
          <p:nvPr/>
        </p:nvSpPr>
        <p:spPr>
          <a:xfrm>
            <a:off x="7223760" y="5212080"/>
            <a:ext cx="4419295" cy="914400"/>
          </a:xfrm>
          <a:prstGeom prst="roundRect">
            <a:avLst>
              <a:gd name="adj" fmla="val 8000"/>
            </a:avLst>
          </a:prstGeom>
          <a:solidFill>
            <a:schemeClr val="bg2"/>
          </a:solidFill>
          <a:ln/>
        </p:spPr>
      </p:sp>
      <p:sp>
        <p:nvSpPr>
          <p:cNvPr id="21" name="dot-79"/>
          <p:cNvSpPr/>
          <p:nvPr/>
        </p:nvSpPr>
        <p:spPr>
          <a:xfrm>
            <a:off x="7406640" y="5431536"/>
            <a:ext cx="164592" cy="164592"/>
          </a:xfrm>
          <a:prstGeom prst="ellipse">
            <a:avLst/>
          </a:prstGeom>
          <a:solidFill>
            <a:schemeClr val="accent6"/>
          </a:solidFill>
          <a:ln/>
        </p:spPr>
      </p:sp>
      <p:sp>
        <p:nvSpPr>
          <p:cNvPr id="22" name="chip-label-80"/>
          <p:cNvSpPr txBox="1"/>
          <p:nvPr/>
        </p:nvSpPr>
        <p:spPr>
          <a:xfrm>
            <a:off x="7680960" y="5349240"/>
            <a:ext cx="3779215" cy="329184"/>
          </a:xfrm>
          <a:prstGeom prst="rect">
            <a:avLst/>
          </a:prstGeom>
          <a:noFill/>
          <a:ln/>
        </p:spPr>
        <p:txBody>
          <a:bodyPr wrap="square" lIns="0" tIns="0" rIns="0" bIns="0" rtlCol="0" anchor="ctr"/>
          <a:lstStyle/>
          <a:p>
            <a:pPr indent="0" marL="0">
              <a:buNone/>
            </a:pPr>
            <a:r>
              <a:rPr lang="en-US" sz="1400" b="1" dirty="0">
                <a:solidFill>
                  <a:schemeClr val="tx1"/>
                </a:solidFill>
              </a:rPr>
              <a:t>DLS Jacobian</a:t>
            </a:r>
            <a:endParaRPr lang="en-US" sz="1400" dirty="0"/>
          </a:p>
        </p:txBody>
      </p:sp>
      <p:sp>
        <p:nvSpPr>
          <p:cNvPr id="23" name="chip-value-81"/>
          <p:cNvSpPr txBox="1"/>
          <p:nvPr/>
        </p:nvSpPr>
        <p:spPr>
          <a:xfrm>
            <a:off x="7406640" y="5687568"/>
            <a:ext cx="4053535" cy="347472"/>
          </a:xfrm>
          <a:prstGeom prst="rect">
            <a:avLst/>
          </a:prstGeom>
          <a:noFill/>
          <a:ln/>
        </p:spPr>
        <p:txBody>
          <a:bodyPr wrap="square" lIns="0" tIns="0" rIns="0" bIns="0" rtlCol="0" anchor="ctr"/>
          <a:lstStyle/>
          <a:p>
            <a:pPr indent="0" marL="0">
              <a:buNone/>
            </a:pPr>
            <a:r>
              <a:rPr lang="en-US" sz="1800" b="1" dirty="0">
                <a:solidFill>
                  <a:schemeClr val="tx1"/>
                </a:solidFill>
              </a:rPr>
              <a:t>λ ∈ [0.01, 0.05]</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600" b="1" dirty="0">
                <a:solidFill>
                  <a:schemeClr val="tx1"/>
                </a:solidFill>
              </a:rPr>
              <a:t>Per-joint dynamics and timing</a:t>
            </a:r>
            <a:endParaRPr lang="en-US" sz="36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6"/>
                </a:solidFill>
              </a:rPr>
              <a:t>J q̈ + B q̇ + d(q̇) = τ for each joint, integrated with RK4 at 1 kHz</a:t>
            </a:r>
            <a:endParaRPr lang="en-US" sz="1600" dirty="0"/>
          </a:p>
        </p:txBody>
      </p:sp>
      <p:graphicFrame>
        <p:nvGraphicFramePr>
          <p:cNvPr id="6" name="dyn-table"/>
          <p:cNvGraphicFramePr>
            <a:graphicFrameLocks noGrp="1"/>
          </p:cNvGraphicFramePr>
          <p:nvPr>
            <p:extLst>
              <p:ext uri="{D42A27DB-BD31-4B8C-83A1-F6EECF244321}">
                <p14:modId xmlns:p14="http://schemas.microsoft.com/office/powerpoint/2010/main" val="1579011935"/>
              </p:ext>
            </p:extLst>
          </p:nvPr>
        </p:nvGraphicFramePr>
        <p:xfrm>
          <a:off x="548640" y="1783080"/>
          <a:ext cx="6309360" cy="914400"/>
        </p:xfrm>
        <a:graphic>
          <a:graphicData uri="http://schemas.openxmlformats.org/drawingml/2006/table">
            <a:tbl>
              <a:tblPr/>
              <a:tblGrid>
                <a:gridCol w="1600200"/>
                <a:gridCol w="1463040"/>
                <a:gridCol w="1783080"/>
                <a:gridCol w="1463040"/>
              </a:tblGrid>
              <a:tr h="457200">
                <a:tc>
                  <a:txBody>
                    <a:bodyPr/>
                    <a:lstStyle/>
                    <a:p>
                      <a:pPr indent="0" marL="0">
                        <a:buNone/>
                      </a:pPr>
                      <a:r>
                        <a:rPr lang="en-US" sz="1400" b="1" dirty="0">
                          <a:solidFill>
                            <a:schemeClr val="bg1"/>
                          </a:solidFill>
                        </a:rPr>
                        <a:t>Joint</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J [kg·m²]</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B [N·m·s/rad]</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τmax [N·m]</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tx1"/>
                          </a:solidFill>
                        </a:rPr>
                        <a:t>1 (base)</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indent="0" marL="0">
                        <a:buNone/>
                      </a:pPr>
                      <a:r>
                        <a:rPr lang="en-US" sz="1400" dirty="0">
                          <a:solidFill>
                            <a:schemeClr val="tx1"/>
                          </a:solidFill>
                        </a:rPr>
                        <a:t>0.0031</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indent="0" marL="0">
                        <a:buNone/>
                      </a:pPr>
                      <a:r>
                        <a:rPr lang="en-US" sz="1400" dirty="0">
                          <a:solidFill>
                            <a:schemeClr val="tx1"/>
                          </a:solidFill>
                        </a:rPr>
                        <a:t>0.0089</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indent="0" marL="0">
                        <a:buNone/>
                      </a:pPr>
                      <a:r>
                        <a:rPr lang="en-US" sz="1400" dirty="0">
                          <a:solidFill>
                            <a:schemeClr val="tx1"/>
                          </a:solidFill>
                        </a:rPr>
                        <a:t>0.865</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r>
              <a:tr h="457200">
                <a:tc>
                  <a:txBody>
                    <a:bodyPr/>
                    <a:lstStyle/>
                    <a:p>
                      <a:pPr indent="0" marL="0">
                        <a:buNone/>
                      </a:pPr>
                      <a:r>
                        <a:rPr lang="en-US" sz="1400" dirty="0">
                          <a:solidFill>
                            <a:schemeClr val="tx1"/>
                          </a:solidFill>
                        </a:rPr>
                        <a:t>2 (shoulder)</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indent="0" marL="0">
                        <a:buNone/>
                      </a:pPr>
                      <a:r>
                        <a:rPr lang="en-US" sz="1400" dirty="0">
                          <a:solidFill>
                            <a:schemeClr val="tx1"/>
                          </a:solidFill>
                        </a:rPr>
                        <a:t>0.0022</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indent="0" marL="0">
                        <a:buNone/>
                      </a:pPr>
                      <a:r>
                        <a:rPr lang="en-US" sz="1400" dirty="0">
                          <a:solidFill>
                            <a:schemeClr val="tx1"/>
                          </a:solidFill>
                        </a:rPr>
                        <a:t>0.0170</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indent="0" marL="0">
                        <a:buNone/>
                      </a:pPr>
                      <a:r>
                        <a:rPr lang="en-US" sz="1400" dirty="0">
                          <a:solidFill>
                            <a:schemeClr val="tx1"/>
                          </a:solidFill>
                        </a:rPr>
                        <a:t>0.865</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r>
              <a:tr h="457200">
                <a:tc>
                  <a:txBody>
                    <a:bodyPr/>
                    <a:lstStyle/>
                    <a:p>
                      <a:pPr indent="0" marL="0">
                        <a:buNone/>
                      </a:pPr>
                      <a:r>
                        <a:rPr lang="en-US" sz="1400" dirty="0">
                          <a:solidFill>
                            <a:schemeClr val="tx1"/>
                          </a:solidFill>
                        </a:rPr>
                        <a:t>3 (elbow)</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indent="0" marL="0">
                        <a:buNone/>
                      </a:pPr>
                      <a:r>
                        <a:rPr lang="en-US" sz="1400" dirty="0">
                          <a:solidFill>
                            <a:schemeClr val="tx1"/>
                          </a:solidFill>
                        </a:rPr>
                        <a:t>0.0009</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indent="0" marL="0">
                        <a:buNone/>
                      </a:pPr>
                      <a:r>
                        <a:rPr lang="en-US" sz="1400" dirty="0">
                          <a:solidFill>
                            <a:schemeClr val="tx1"/>
                          </a:solidFill>
                        </a:rPr>
                        <a:t>0.0058</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indent="0" marL="0">
                        <a:buNone/>
                      </a:pPr>
                      <a:r>
                        <a:rPr lang="en-US" sz="1400" dirty="0">
                          <a:solidFill>
                            <a:schemeClr val="tx1"/>
                          </a:solidFill>
                        </a:rPr>
                        <a:t>0.432</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r>
            </a:tbl>
          </a:graphicData>
        </a:graphic>
      </p:graphicFrame>
      <p:sp>
        <p:nvSpPr>
          <p:cNvPr id="5" name="card-82"/>
          <p:cNvSpPr/>
          <p:nvPr/>
        </p:nvSpPr>
        <p:spPr>
          <a:xfrm>
            <a:off x="548640" y="3886200"/>
            <a:ext cx="6309360" cy="2286000"/>
          </a:xfrm>
          <a:prstGeom prst="roundRect">
            <a:avLst>
              <a:gd name="adj" fmla="val 3200"/>
            </a:avLst>
          </a:prstGeom>
          <a:solidFill>
            <a:schemeClr val="bg2"/>
          </a:solidFill>
          <a:ln/>
        </p:spPr>
      </p:sp>
      <p:sp>
        <p:nvSpPr>
          <p:cNvPr id="6" name="card-heading-83"/>
          <p:cNvSpPr txBox="1"/>
          <p:nvPr/>
        </p:nvSpPr>
        <p:spPr>
          <a:xfrm>
            <a:off x="822960" y="4087368"/>
            <a:ext cx="5440680" cy="411480"/>
          </a:xfrm>
          <a:prstGeom prst="rect">
            <a:avLst/>
          </a:prstGeom>
          <a:noFill/>
          <a:ln/>
        </p:spPr>
        <p:txBody>
          <a:bodyPr wrap="square" lIns="0" tIns="0" rIns="0" bIns="0" rtlCol="0" anchor="ctr"/>
          <a:lstStyle/>
          <a:p>
            <a:pPr indent="0" marL="0">
              <a:buNone/>
            </a:pPr>
            <a:r>
              <a:rPr lang="en-US" sz="1800" b="1" dirty="0">
                <a:solidFill>
                  <a:schemeClr val="tx1"/>
                </a:solidFill>
              </a:rPr>
              <a:t>Disturbance d(q̇)</a:t>
            </a:r>
            <a:endParaRPr lang="en-US" sz="1800" dirty="0"/>
          </a:p>
        </p:txBody>
      </p:sp>
      <p:sp>
        <p:nvSpPr>
          <p:cNvPr id="7" name="card-body-84"/>
          <p:cNvSpPr txBox="1"/>
          <p:nvPr/>
        </p:nvSpPr>
        <p:spPr>
          <a:xfrm>
            <a:off x="822960" y="4663440"/>
            <a:ext cx="5760720" cy="1325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Constant gravity/static bias of 0.10 / 0.20 / 0.05 N·m plus smooth Coulomb friction</a:t>
            </a:r>
            <a:endParaRPr lang="en-US" sz="1500" dirty="0"/>
          </a:p>
          <a:p>
            <a:pPr marL="342900" indent="-342900">
              <a:spcAft>
                <a:spcPts val="800"/>
              </a:spcAft>
              <a:buSzPct val="100000"/>
              <a:buChar char="•"/>
            </a:pPr>
            <a:r>
              <a:rPr lang="en-US" sz="1500" dirty="0">
                <a:solidFill>
                  <a:schemeClr val="tx1"/>
                </a:solidFill>
              </a:rPr>
              <a:t>Calibrated to reproduce the thesis's 3-8° PD steady-state error</a:t>
            </a:r>
            <a:endParaRPr lang="en-US" sz="1500" dirty="0"/>
          </a:p>
        </p:txBody>
      </p:sp>
      <p:sp>
        <p:nvSpPr>
          <p:cNvPr id="8" name="card-85"/>
          <p:cNvSpPr/>
          <p:nvPr/>
        </p:nvSpPr>
        <p:spPr>
          <a:xfrm>
            <a:off x="7223760" y="1783080"/>
            <a:ext cx="2095348" cy="2103120"/>
          </a:xfrm>
          <a:prstGeom prst="roundRect">
            <a:avLst>
              <a:gd name="adj" fmla="val 3491"/>
            </a:avLst>
          </a:prstGeom>
          <a:solidFill>
            <a:schemeClr val="bg2"/>
          </a:solidFill>
          <a:ln/>
        </p:spPr>
      </p:sp>
      <p:sp>
        <p:nvSpPr>
          <p:cNvPr id="9" name="dot-86"/>
          <p:cNvSpPr/>
          <p:nvPr/>
        </p:nvSpPr>
        <p:spPr>
          <a:xfrm>
            <a:off x="7406640" y="2029968"/>
            <a:ext cx="164592" cy="164592"/>
          </a:xfrm>
          <a:prstGeom prst="ellipse">
            <a:avLst/>
          </a:prstGeom>
          <a:solidFill>
            <a:schemeClr val="accent6"/>
          </a:solidFill>
          <a:ln/>
        </p:spPr>
      </p:sp>
      <p:sp>
        <p:nvSpPr>
          <p:cNvPr id="10" name="stat-label-87"/>
          <p:cNvSpPr txBox="1"/>
          <p:nvPr/>
        </p:nvSpPr>
        <p:spPr>
          <a:xfrm>
            <a:off x="7680960" y="1965960"/>
            <a:ext cx="1455268" cy="292608"/>
          </a:xfrm>
          <a:prstGeom prst="rect">
            <a:avLst/>
          </a:prstGeom>
          <a:noFill/>
          <a:ln/>
        </p:spPr>
        <p:txBody>
          <a:bodyPr wrap="square" lIns="0" tIns="0" rIns="0" bIns="0" rtlCol="0" anchor="ctr"/>
          <a:lstStyle/>
          <a:p>
            <a:pPr indent="0" marL="0">
              <a:buNone/>
            </a:pPr>
            <a:r>
              <a:rPr lang="en-US" sz="1400" b="1" dirty="0">
                <a:solidFill>
                  <a:schemeClr val="tx1"/>
                </a:solidFill>
              </a:rPr>
              <a:t>Control loop</a:t>
            </a:r>
            <a:endParaRPr lang="en-US" sz="1400" dirty="0"/>
          </a:p>
        </p:txBody>
      </p:sp>
      <p:sp>
        <p:nvSpPr>
          <p:cNvPr id="11" name="stat-value-88"/>
          <p:cNvSpPr txBox="1"/>
          <p:nvPr/>
        </p:nvSpPr>
        <p:spPr>
          <a:xfrm>
            <a:off x="7406640" y="2313432"/>
            <a:ext cx="1729588" cy="502920"/>
          </a:xfrm>
          <a:prstGeom prst="rect">
            <a:avLst/>
          </a:prstGeom>
          <a:noFill/>
          <a:ln/>
        </p:spPr>
        <p:txBody>
          <a:bodyPr wrap="square" lIns="0" tIns="0" rIns="0" bIns="0" rtlCol="0" anchor="ctr"/>
          <a:lstStyle/>
          <a:p>
            <a:pPr indent="0" marL="0">
              <a:buNone/>
            </a:pPr>
            <a:r>
              <a:rPr lang="en-US" sz="2600" b="1" dirty="0">
                <a:solidFill>
                  <a:schemeClr val="tx1"/>
                </a:solidFill>
              </a:rPr>
              <a:t>1 kHz</a:t>
            </a:r>
            <a:endParaRPr lang="en-US" sz="2600" dirty="0"/>
          </a:p>
        </p:txBody>
      </p:sp>
      <p:sp>
        <p:nvSpPr>
          <p:cNvPr id="12" name="stat-desc-89"/>
          <p:cNvSpPr txBox="1"/>
          <p:nvPr/>
        </p:nvSpPr>
        <p:spPr>
          <a:xfrm>
            <a:off x="7406640" y="2862072"/>
            <a:ext cx="1729588" cy="841248"/>
          </a:xfrm>
          <a:prstGeom prst="rect">
            <a:avLst/>
          </a:prstGeom>
          <a:noFill/>
          <a:ln/>
        </p:spPr>
        <p:txBody>
          <a:bodyPr wrap="square" lIns="0" tIns="0" rIns="0" bIns="0" rtlCol="0" anchor="t"/>
          <a:lstStyle/>
          <a:p>
            <a:pPr indent="0" marL="0">
              <a:buNone/>
            </a:pPr>
            <a:r>
              <a:rPr lang="en-US" sz="1400" dirty="0">
                <a:solidFill>
                  <a:schemeClr val="accent6"/>
                </a:solidFill>
              </a:rPr>
              <a:t>Ts = 1 ms, QUARC real-time</a:t>
            </a:r>
            <a:endParaRPr lang="en-US" sz="1400" dirty="0"/>
          </a:p>
        </p:txBody>
      </p:sp>
      <p:sp>
        <p:nvSpPr>
          <p:cNvPr id="13" name="card-90"/>
          <p:cNvSpPr/>
          <p:nvPr/>
        </p:nvSpPr>
        <p:spPr>
          <a:xfrm>
            <a:off x="9547708" y="1783080"/>
            <a:ext cx="2095348" cy="2103120"/>
          </a:xfrm>
          <a:prstGeom prst="roundRect">
            <a:avLst>
              <a:gd name="adj" fmla="val 3491"/>
            </a:avLst>
          </a:prstGeom>
          <a:solidFill>
            <a:schemeClr val="bg2"/>
          </a:solidFill>
          <a:ln/>
        </p:spPr>
      </p:sp>
      <p:sp>
        <p:nvSpPr>
          <p:cNvPr id="14" name="dot-91"/>
          <p:cNvSpPr/>
          <p:nvPr/>
        </p:nvSpPr>
        <p:spPr>
          <a:xfrm>
            <a:off x="9730588" y="2029968"/>
            <a:ext cx="164592" cy="164592"/>
          </a:xfrm>
          <a:prstGeom prst="ellipse">
            <a:avLst/>
          </a:prstGeom>
          <a:solidFill>
            <a:schemeClr val="accent6"/>
          </a:solidFill>
          <a:ln/>
        </p:spPr>
      </p:sp>
      <p:sp>
        <p:nvSpPr>
          <p:cNvPr id="15" name="stat-label-92"/>
          <p:cNvSpPr txBox="1"/>
          <p:nvPr/>
        </p:nvSpPr>
        <p:spPr>
          <a:xfrm>
            <a:off x="10004908" y="1965960"/>
            <a:ext cx="1455268" cy="292608"/>
          </a:xfrm>
          <a:prstGeom prst="rect">
            <a:avLst/>
          </a:prstGeom>
          <a:noFill/>
          <a:ln/>
        </p:spPr>
        <p:txBody>
          <a:bodyPr wrap="square" lIns="0" tIns="0" rIns="0" bIns="0" rtlCol="0" anchor="ctr"/>
          <a:lstStyle/>
          <a:p>
            <a:pPr indent="0" marL="0">
              <a:buNone/>
            </a:pPr>
            <a:r>
              <a:rPr lang="en-US" sz="1400" b="1" dirty="0">
                <a:solidFill>
                  <a:schemeClr val="tx1"/>
                </a:solidFill>
              </a:rPr>
              <a:t>UDP link</a:t>
            </a:r>
            <a:endParaRPr lang="en-US" sz="1400" dirty="0"/>
          </a:p>
        </p:txBody>
      </p:sp>
      <p:sp>
        <p:nvSpPr>
          <p:cNvPr id="16" name="stat-value-93"/>
          <p:cNvSpPr txBox="1"/>
          <p:nvPr/>
        </p:nvSpPr>
        <p:spPr>
          <a:xfrm>
            <a:off x="9730588" y="2313432"/>
            <a:ext cx="1729588" cy="502920"/>
          </a:xfrm>
          <a:prstGeom prst="rect">
            <a:avLst/>
          </a:prstGeom>
          <a:noFill/>
          <a:ln/>
        </p:spPr>
        <p:txBody>
          <a:bodyPr wrap="square" lIns="0" tIns="0" rIns="0" bIns="0" rtlCol="0" anchor="ctr"/>
          <a:lstStyle/>
          <a:p>
            <a:pPr indent="0" marL="0">
              <a:buNone/>
            </a:pPr>
            <a:r>
              <a:rPr lang="en-US" sz="2600" b="1" dirty="0">
                <a:solidFill>
                  <a:schemeClr val="tx1"/>
                </a:solidFill>
              </a:rPr>
              <a:t>50 Hz</a:t>
            </a:r>
            <a:endParaRPr lang="en-US" sz="2600" dirty="0"/>
          </a:p>
        </p:txBody>
      </p:sp>
      <p:sp>
        <p:nvSpPr>
          <p:cNvPr id="17" name="stat-desc-94"/>
          <p:cNvSpPr txBox="1"/>
          <p:nvPr/>
        </p:nvSpPr>
        <p:spPr>
          <a:xfrm>
            <a:off x="9730588" y="2862072"/>
            <a:ext cx="1729588" cy="841248"/>
          </a:xfrm>
          <a:prstGeom prst="rect">
            <a:avLst/>
          </a:prstGeom>
          <a:noFill/>
          <a:ln/>
        </p:spPr>
        <p:txBody>
          <a:bodyPr wrap="square" lIns="0" tIns="0" rIns="0" bIns="0" rtlCol="0" anchor="t"/>
          <a:lstStyle/>
          <a:p>
            <a:pPr indent="0" marL="0">
              <a:buNone/>
            </a:pPr>
            <a:r>
              <a:rPr lang="en-US" sz="1400" dirty="0">
                <a:solidFill>
                  <a:schemeClr val="accent6"/>
                </a:solidFill>
              </a:rPr>
              <a:t>Commands and feedback every 20 ms</a:t>
            </a:r>
            <a:endParaRPr lang="en-US" sz="1400" dirty="0"/>
          </a:p>
        </p:txBody>
      </p:sp>
      <p:sp>
        <p:nvSpPr>
          <p:cNvPr id="18" name="card-95"/>
          <p:cNvSpPr/>
          <p:nvPr/>
        </p:nvSpPr>
        <p:spPr>
          <a:xfrm>
            <a:off x="7223760" y="4114800"/>
            <a:ext cx="2095348" cy="2103120"/>
          </a:xfrm>
          <a:prstGeom prst="roundRect">
            <a:avLst>
              <a:gd name="adj" fmla="val 3491"/>
            </a:avLst>
          </a:prstGeom>
          <a:solidFill>
            <a:schemeClr val="bg2"/>
          </a:solidFill>
          <a:ln/>
        </p:spPr>
      </p:sp>
      <p:sp>
        <p:nvSpPr>
          <p:cNvPr id="19" name="dot-96"/>
          <p:cNvSpPr/>
          <p:nvPr/>
        </p:nvSpPr>
        <p:spPr>
          <a:xfrm>
            <a:off x="7406640" y="4361688"/>
            <a:ext cx="164592" cy="164592"/>
          </a:xfrm>
          <a:prstGeom prst="ellipse">
            <a:avLst/>
          </a:prstGeom>
          <a:solidFill>
            <a:schemeClr val="accent6"/>
          </a:solidFill>
          <a:ln/>
        </p:spPr>
      </p:sp>
      <p:sp>
        <p:nvSpPr>
          <p:cNvPr id="20" name="stat-label-97"/>
          <p:cNvSpPr txBox="1"/>
          <p:nvPr/>
        </p:nvSpPr>
        <p:spPr>
          <a:xfrm>
            <a:off x="7680960" y="4297680"/>
            <a:ext cx="1455268" cy="292608"/>
          </a:xfrm>
          <a:prstGeom prst="rect">
            <a:avLst/>
          </a:prstGeom>
          <a:noFill/>
          <a:ln/>
        </p:spPr>
        <p:txBody>
          <a:bodyPr wrap="square" lIns="0" tIns="0" rIns="0" bIns="0" rtlCol="0" anchor="ctr"/>
          <a:lstStyle/>
          <a:p>
            <a:pPr indent="0" marL="0">
              <a:buNone/>
            </a:pPr>
            <a:r>
              <a:rPr lang="en-US" sz="1400" b="1" dirty="0">
                <a:solidFill>
                  <a:schemeClr val="tx1"/>
                </a:solidFill>
              </a:rPr>
              <a:t>Delay margin</a:t>
            </a:r>
            <a:endParaRPr lang="en-US" sz="1400" dirty="0"/>
          </a:p>
        </p:txBody>
      </p:sp>
      <p:sp>
        <p:nvSpPr>
          <p:cNvPr id="21" name="stat-value-98"/>
          <p:cNvSpPr txBox="1"/>
          <p:nvPr/>
        </p:nvSpPr>
        <p:spPr>
          <a:xfrm>
            <a:off x="7406640" y="4645152"/>
            <a:ext cx="1729588" cy="502920"/>
          </a:xfrm>
          <a:prstGeom prst="rect">
            <a:avLst/>
          </a:prstGeom>
          <a:noFill/>
          <a:ln/>
        </p:spPr>
        <p:txBody>
          <a:bodyPr wrap="square" lIns="0" tIns="0" rIns="0" bIns="0" rtlCol="0" anchor="ctr"/>
          <a:lstStyle/>
          <a:p>
            <a:pPr indent="0" marL="0">
              <a:buNone/>
            </a:pPr>
            <a:r>
              <a:rPr lang="en-US" sz="2600" b="1" dirty="0">
                <a:solidFill>
                  <a:schemeClr val="tx1"/>
                </a:solidFill>
              </a:rPr>
              <a:t>34.9 ms</a:t>
            </a:r>
            <a:endParaRPr lang="en-US" sz="2600" dirty="0"/>
          </a:p>
        </p:txBody>
      </p:sp>
      <p:sp>
        <p:nvSpPr>
          <p:cNvPr id="22" name="stat-desc-99"/>
          <p:cNvSpPr txBox="1"/>
          <p:nvPr/>
        </p:nvSpPr>
        <p:spPr>
          <a:xfrm>
            <a:off x="7406640" y="5193792"/>
            <a:ext cx="1729588" cy="841248"/>
          </a:xfrm>
          <a:prstGeom prst="rect">
            <a:avLst/>
          </a:prstGeom>
          <a:noFill/>
          <a:ln/>
        </p:spPr>
        <p:txBody>
          <a:bodyPr wrap="square" lIns="0" tIns="0" rIns="0" bIns="0" rtlCol="0" anchor="t"/>
          <a:lstStyle/>
          <a:p>
            <a:pPr indent="0" marL="0">
              <a:buNone/>
            </a:pPr>
            <a:r>
              <a:rPr lang="en-US" sz="1400" dirty="0">
                <a:solidFill>
                  <a:schemeClr val="accent6"/>
                </a:solidFill>
              </a:rPr>
              <a:t>Analytical, ωc = 35 rad/s, PM = 70°</a:t>
            </a:r>
            <a:endParaRPr lang="en-US" sz="1400" dirty="0"/>
          </a:p>
        </p:txBody>
      </p:sp>
      <p:sp>
        <p:nvSpPr>
          <p:cNvPr id="23" name="card-100"/>
          <p:cNvSpPr/>
          <p:nvPr/>
        </p:nvSpPr>
        <p:spPr>
          <a:xfrm>
            <a:off x="9547708" y="4114800"/>
            <a:ext cx="2095348" cy="2103120"/>
          </a:xfrm>
          <a:prstGeom prst="roundRect">
            <a:avLst>
              <a:gd name="adj" fmla="val 3491"/>
            </a:avLst>
          </a:prstGeom>
          <a:solidFill>
            <a:schemeClr val="bg2"/>
          </a:solidFill>
          <a:ln/>
        </p:spPr>
      </p:sp>
      <p:sp>
        <p:nvSpPr>
          <p:cNvPr id="24" name="dot-101"/>
          <p:cNvSpPr/>
          <p:nvPr/>
        </p:nvSpPr>
        <p:spPr>
          <a:xfrm>
            <a:off x="9730588" y="4361688"/>
            <a:ext cx="164592" cy="164592"/>
          </a:xfrm>
          <a:prstGeom prst="ellipse">
            <a:avLst/>
          </a:prstGeom>
          <a:solidFill>
            <a:schemeClr val="accent6"/>
          </a:solidFill>
          <a:ln/>
        </p:spPr>
      </p:sp>
      <p:sp>
        <p:nvSpPr>
          <p:cNvPr id="25" name="stat-label-102"/>
          <p:cNvSpPr txBox="1"/>
          <p:nvPr/>
        </p:nvSpPr>
        <p:spPr>
          <a:xfrm>
            <a:off x="10004908" y="4297680"/>
            <a:ext cx="1455268" cy="292608"/>
          </a:xfrm>
          <a:prstGeom prst="rect">
            <a:avLst/>
          </a:prstGeom>
          <a:noFill/>
          <a:ln/>
        </p:spPr>
        <p:txBody>
          <a:bodyPr wrap="square" lIns="0" tIns="0" rIns="0" bIns="0" rtlCol="0" anchor="ctr"/>
          <a:lstStyle/>
          <a:p>
            <a:pPr indent="0" marL="0">
              <a:buNone/>
            </a:pPr>
            <a:r>
              <a:rPr lang="en-US" sz="1400" b="1" dirty="0">
                <a:solidFill>
                  <a:schemeClr val="tx1"/>
                </a:solidFill>
              </a:rPr>
              <a:t>Tip force</a:t>
            </a:r>
            <a:endParaRPr lang="en-US" sz="1400" dirty="0"/>
          </a:p>
        </p:txBody>
      </p:sp>
      <p:sp>
        <p:nvSpPr>
          <p:cNvPr id="26" name="stat-value-103"/>
          <p:cNvSpPr txBox="1"/>
          <p:nvPr/>
        </p:nvSpPr>
        <p:spPr>
          <a:xfrm>
            <a:off x="9730588" y="4645152"/>
            <a:ext cx="1729588" cy="502920"/>
          </a:xfrm>
          <a:prstGeom prst="rect">
            <a:avLst/>
          </a:prstGeom>
          <a:noFill/>
          <a:ln/>
        </p:spPr>
        <p:txBody>
          <a:bodyPr wrap="square" lIns="0" tIns="0" rIns="0" bIns="0" rtlCol="0" anchor="ctr"/>
          <a:lstStyle/>
          <a:p>
            <a:pPr indent="0" marL="0">
              <a:buNone/>
            </a:pPr>
            <a:r>
              <a:rPr lang="en-US" sz="2600" b="1" dirty="0">
                <a:solidFill>
                  <a:schemeClr val="tx1"/>
                </a:solidFill>
              </a:rPr>
              <a:t>3.3 N</a:t>
            </a:r>
            <a:endParaRPr lang="en-US" sz="2600" dirty="0"/>
          </a:p>
        </p:txBody>
      </p:sp>
      <p:sp>
        <p:nvSpPr>
          <p:cNvPr id="27" name="stat-desc-104"/>
          <p:cNvSpPr txBox="1"/>
          <p:nvPr/>
        </p:nvSpPr>
        <p:spPr>
          <a:xfrm>
            <a:off x="9730588" y="5193792"/>
            <a:ext cx="1729588" cy="841248"/>
          </a:xfrm>
          <a:prstGeom prst="rect">
            <a:avLst/>
          </a:prstGeom>
          <a:noFill/>
          <a:ln/>
        </p:spPr>
        <p:txBody>
          <a:bodyPr wrap="square" lIns="0" tIns="0" rIns="0" bIns="0" rtlCol="0" anchor="t"/>
          <a:lstStyle/>
          <a:p>
            <a:pPr indent="0" marL="0">
              <a:buNone/>
            </a:pPr>
            <a:r>
              <a:rPr lang="en-US" sz="1400" dirty="0">
                <a:solidFill>
                  <a:schemeClr val="accent6"/>
                </a:solidFill>
              </a:rPr>
              <a:t>Peak (0.88 N continuous) sets τmax</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600" b="1" dirty="0">
                <a:solidFill>
                  <a:schemeClr val="tx1"/>
                </a:solidFill>
              </a:rPr>
              <a:t>Closed-loop simulation chain</a:t>
            </a:r>
            <a:endParaRPr lang="en-US" sz="36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6"/>
                </a:solidFill>
              </a:rPr>
              <a:t>Every candidate gain set is simulated with the network inside the loop</a:t>
            </a:r>
            <a:endParaRPr lang="en-US" sz="1600" dirty="0"/>
          </a:p>
        </p:txBody>
      </p:sp>
      <p:sp>
        <p:nvSpPr>
          <p:cNvPr id="4" name="card-105"/>
          <p:cNvSpPr/>
          <p:nvPr/>
        </p:nvSpPr>
        <p:spPr>
          <a:xfrm>
            <a:off x="548640" y="1783080"/>
            <a:ext cx="1911645" cy="2514600"/>
          </a:xfrm>
          <a:prstGeom prst="roundRect">
            <a:avLst>
              <a:gd name="adj" fmla="val 3827"/>
            </a:avLst>
          </a:prstGeom>
          <a:solidFill>
            <a:schemeClr val="bg2"/>
          </a:solidFill>
          <a:ln/>
        </p:spPr>
      </p:sp>
      <p:sp>
        <p:nvSpPr>
          <p:cNvPr id="5" name="step-circle-106"/>
          <p:cNvSpPr/>
          <p:nvPr/>
        </p:nvSpPr>
        <p:spPr>
          <a:xfrm>
            <a:off x="777240" y="2011680"/>
            <a:ext cx="457200" cy="457200"/>
          </a:xfrm>
          <a:prstGeom prst="ellipse">
            <a:avLst/>
          </a:prstGeom>
          <a:solidFill>
            <a:schemeClr val="tx2"/>
          </a:solidFill>
          <a:ln/>
        </p:spPr>
      </p:sp>
      <p:sp>
        <p:nvSpPr>
          <p:cNvPr id="6" name="step-num-107"/>
          <p:cNvSpPr txBox="1"/>
          <p:nvPr/>
        </p:nvSpPr>
        <p:spPr>
          <a:xfrm>
            <a:off x="777240" y="2011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step-title-108"/>
          <p:cNvSpPr txBox="1"/>
          <p:nvPr/>
        </p:nvSpPr>
        <p:spPr>
          <a:xfrm>
            <a:off x="777240" y="2606040"/>
            <a:ext cx="1454445" cy="365760"/>
          </a:xfrm>
          <a:prstGeom prst="rect">
            <a:avLst/>
          </a:prstGeom>
          <a:noFill/>
          <a:ln/>
        </p:spPr>
        <p:txBody>
          <a:bodyPr wrap="square" lIns="0" tIns="0" rIns="0" bIns="0" rtlCol="0" anchor="ctr"/>
          <a:lstStyle/>
          <a:p>
            <a:pPr indent="0" marL="0">
              <a:buNone/>
            </a:pPr>
            <a:r>
              <a:rPr lang="en-US" sz="1800" b="1" dirty="0">
                <a:solidFill>
                  <a:schemeClr val="tx1"/>
                </a:solidFill>
              </a:rPr>
              <a:t>Reference</a:t>
            </a:r>
            <a:endParaRPr lang="en-US" sz="1800" dirty="0"/>
          </a:p>
        </p:txBody>
      </p:sp>
      <p:sp>
        <p:nvSpPr>
          <p:cNvPr id="8" name="step-desc-109"/>
          <p:cNvSpPr txBox="1"/>
          <p:nvPr/>
        </p:nvSpPr>
        <p:spPr>
          <a:xfrm>
            <a:off x="777240" y="3017520"/>
            <a:ext cx="1454445" cy="1097280"/>
          </a:xfrm>
          <a:prstGeom prst="rect">
            <a:avLst/>
          </a:prstGeom>
          <a:noFill/>
          <a:ln/>
        </p:spPr>
        <p:txBody>
          <a:bodyPr wrap="square" lIns="0" tIns="0" rIns="0" bIns="0" rtlCol="0" anchor="t"/>
          <a:lstStyle/>
          <a:p>
            <a:pPr indent="0" marL="0">
              <a:buNone/>
            </a:pPr>
            <a:r>
              <a:rPr lang="en-US" sz="1400" dirty="0">
                <a:solidFill>
                  <a:schemeClr val="accent6"/>
                </a:solidFill>
              </a:rPr>
              <a:t>50 Hz UDP commands held by a zero-order hold</a:t>
            </a:r>
            <a:endParaRPr lang="en-US" sz="1400" dirty="0"/>
          </a:p>
        </p:txBody>
      </p:sp>
      <p:sp>
        <p:nvSpPr>
          <p:cNvPr id="9" name="step-arrow-110"/>
          <p:cNvSpPr/>
          <p:nvPr/>
        </p:nvSpPr>
        <p:spPr>
          <a:xfrm>
            <a:off x="2524293" y="3040380"/>
            <a:ext cx="256032" cy="0"/>
          </a:xfrm>
          <a:prstGeom prst="line">
            <a:avLst/>
          </a:prstGeom>
          <a:noFill/>
          <a:ln w="25400">
            <a:solidFill>
              <a:schemeClr val="accent6"/>
            </a:solidFill>
            <a:prstDash val="solid"/>
            <a:tailEnd type="triangle"/>
          </a:ln>
        </p:spPr>
      </p:sp>
      <p:sp>
        <p:nvSpPr>
          <p:cNvPr id="10" name="card-111"/>
          <p:cNvSpPr/>
          <p:nvPr/>
        </p:nvSpPr>
        <p:spPr>
          <a:xfrm>
            <a:off x="2844333" y="1783080"/>
            <a:ext cx="1911645" cy="2514600"/>
          </a:xfrm>
          <a:prstGeom prst="roundRect">
            <a:avLst>
              <a:gd name="adj" fmla="val 3827"/>
            </a:avLst>
          </a:prstGeom>
          <a:solidFill>
            <a:schemeClr val="bg2"/>
          </a:solidFill>
          <a:ln/>
        </p:spPr>
      </p:sp>
      <p:sp>
        <p:nvSpPr>
          <p:cNvPr id="11" name="step-circle-112"/>
          <p:cNvSpPr/>
          <p:nvPr/>
        </p:nvSpPr>
        <p:spPr>
          <a:xfrm>
            <a:off x="3072933" y="2011680"/>
            <a:ext cx="457200" cy="457200"/>
          </a:xfrm>
          <a:prstGeom prst="ellipse">
            <a:avLst/>
          </a:prstGeom>
          <a:solidFill>
            <a:schemeClr val="tx2"/>
          </a:solidFill>
          <a:ln/>
        </p:spPr>
      </p:sp>
      <p:sp>
        <p:nvSpPr>
          <p:cNvPr id="12" name="step-num-113"/>
          <p:cNvSpPr txBox="1"/>
          <p:nvPr/>
        </p:nvSpPr>
        <p:spPr>
          <a:xfrm>
            <a:off x="3072933" y="2011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step-title-114"/>
          <p:cNvSpPr txBox="1"/>
          <p:nvPr/>
        </p:nvSpPr>
        <p:spPr>
          <a:xfrm>
            <a:off x="3072933" y="2606040"/>
            <a:ext cx="1454445" cy="365760"/>
          </a:xfrm>
          <a:prstGeom prst="rect">
            <a:avLst/>
          </a:prstGeom>
          <a:noFill/>
          <a:ln/>
        </p:spPr>
        <p:txBody>
          <a:bodyPr wrap="square" lIns="0" tIns="0" rIns="0" bIns="0" rtlCol="0" anchor="ctr"/>
          <a:lstStyle/>
          <a:p>
            <a:pPr indent="0" marL="0">
              <a:buNone/>
            </a:pPr>
            <a:r>
              <a:rPr lang="en-US" sz="1800" b="1" dirty="0">
                <a:solidFill>
                  <a:schemeClr val="tx1"/>
                </a:solidFill>
              </a:rPr>
              <a:t>PID</a:t>
            </a:r>
            <a:endParaRPr lang="en-US" sz="1800" dirty="0"/>
          </a:p>
        </p:txBody>
      </p:sp>
      <p:sp>
        <p:nvSpPr>
          <p:cNvPr id="14" name="step-desc-115"/>
          <p:cNvSpPr txBox="1"/>
          <p:nvPr/>
        </p:nvSpPr>
        <p:spPr>
          <a:xfrm>
            <a:off x="3072933" y="3017520"/>
            <a:ext cx="1454445" cy="1097280"/>
          </a:xfrm>
          <a:prstGeom prst="rect">
            <a:avLst/>
          </a:prstGeom>
          <a:noFill/>
          <a:ln/>
        </p:spPr>
        <p:txBody>
          <a:bodyPr wrap="square" lIns="0" tIns="0" rIns="0" bIns="0" rtlCol="0" anchor="t"/>
          <a:lstStyle/>
          <a:p>
            <a:pPr indent="0" marL="0">
              <a:buNone/>
            </a:pPr>
            <a:r>
              <a:rPr lang="en-US" sz="1400" dirty="0">
                <a:solidFill>
                  <a:schemeClr val="accent6"/>
                </a:solidFill>
              </a:rPr>
              <a:t>Derivative on measurement, 100 Hz low-pass, clamping anti-windup</a:t>
            </a:r>
            <a:endParaRPr lang="en-US" sz="1400" dirty="0"/>
          </a:p>
        </p:txBody>
      </p:sp>
      <p:sp>
        <p:nvSpPr>
          <p:cNvPr id="15" name="step-arrow-116"/>
          <p:cNvSpPr/>
          <p:nvPr/>
        </p:nvSpPr>
        <p:spPr>
          <a:xfrm>
            <a:off x="4819985" y="3040380"/>
            <a:ext cx="256032" cy="0"/>
          </a:xfrm>
          <a:prstGeom prst="line">
            <a:avLst/>
          </a:prstGeom>
          <a:noFill/>
          <a:ln w="25400">
            <a:solidFill>
              <a:schemeClr val="accent6"/>
            </a:solidFill>
            <a:prstDash val="solid"/>
            <a:tailEnd type="triangle"/>
          </a:ln>
        </p:spPr>
      </p:sp>
      <p:sp>
        <p:nvSpPr>
          <p:cNvPr id="16" name="card-117"/>
          <p:cNvSpPr/>
          <p:nvPr/>
        </p:nvSpPr>
        <p:spPr>
          <a:xfrm>
            <a:off x="5140025" y="1783080"/>
            <a:ext cx="1911645" cy="2514600"/>
          </a:xfrm>
          <a:prstGeom prst="roundRect">
            <a:avLst>
              <a:gd name="adj" fmla="val 3827"/>
            </a:avLst>
          </a:prstGeom>
          <a:solidFill>
            <a:schemeClr val="bg2"/>
          </a:solidFill>
          <a:ln/>
        </p:spPr>
      </p:sp>
      <p:sp>
        <p:nvSpPr>
          <p:cNvPr id="17" name="step-circle-118"/>
          <p:cNvSpPr/>
          <p:nvPr/>
        </p:nvSpPr>
        <p:spPr>
          <a:xfrm>
            <a:off x="5368625" y="2011680"/>
            <a:ext cx="457200" cy="457200"/>
          </a:xfrm>
          <a:prstGeom prst="ellipse">
            <a:avLst/>
          </a:prstGeom>
          <a:solidFill>
            <a:schemeClr val="tx2"/>
          </a:solidFill>
          <a:ln/>
        </p:spPr>
      </p:sp>
      <p:sp>
        <p:nvSpPr>
          <p:cNvPr id="18" name="step-num-119"/>
          <p:cNvSpPr txBox="1"/>
          <p:nvPr/>
        </p:nvSpPr>
        <p:spPr>
          <a:xfrm>
            <a:off x="5368625" y="2011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step-title-120"/>
          <p:cNvSpPr txBox="1"/>
          <p:nvPr/>
        </p:nvSpPr>
        <p:spPr>
          <a:xfrm>
            <a:off x="5368625" y="2606040"/>
            <a:ext cx="1454445" cy="365760"/>
          </a:xfrm>
          <a:prstGeom prst="rect">
            <a:avLst/>
          </a:prstGeom>
          <a:noFill/>
          <a:ln/>
        </p:spPr>
        <p:txBody>
          <a:bodyPr wrap="square" lIns="0" tIns="0" rIns="0" bIns="0" rtlCol="0" anchor="ctr"/>
          <a:lstStyle/>
          <a:p>
            <a:pPr indent="0" marL="0">
              <a:buNone/>
            </a:pPr>
            <a:r>
              <a:rPr lang="en-US" sz="1800" b="1" dirty="0">
                <a:solidFill>
                  <a:schemeClr val="tx1"/>
                </a:solidFill>
              </a:rPr>
              <a:t>Actuator</a:t>
            </a:r>
            <a:endParaRPr lang="en-US" sz="1800" dirty="0"/>
          </a:p>
        </p:txBody>
      </p:sp>
      <p:sp>
        <p:nvSpPr>
          <p:cNvPr id="20" name="step-desc-121"/>
          <p:cNvSpPr txBox="1"/>
          <p:nvPr/>
        </p:nvSpPr>
        <p:spPr>
          <a:xfrm>
            <a:off x="5368625" y="3017520"/>
            <a:ext cx="1454445" cy="1097280"/>
          </a:xfrm>
          <a:prstGeom prst="rect">
            <a:avLst/>
          </a:prstGeom>
          <a:noFill/>
          <a:ln/>
        </p:spPr>
        <p:txBody>
          <a:bodyPr wrap="square" lIns="0" tIns="0" rIns="0" bIns="0" rtlCol="0" anchor="t"/>
          <a:lstStyle/>
          <a:p>
            <a:pPr indent="0" marL="0">
              <a:buNone/>
            </a:pPr>
            <a:r>
              <a:rPr lang="en-US" sz="1400" dirty="0">
                <a:solidFill>
                  <a:schemeClr val="accent6"/>
                </a:solidFill>
              </a:rPr>
              <a:t>Torque saturation at 0.87 / 0.87 / 0.43 N·m</a:t>
            </a:r>
            <a:endParaRPr lang="en-US" sz="1400" dirty="0"/>
          </a:p>
        </p:txBody>
      </p:sp>
      <p:sp>
        <p:nvSpPr>
          <p:cNvPr id="21" name="step-arrow-122"/>
          <p:cNvSpPr/>
          <p:nvPr/>
        </p:nvSpPr>
        <p:spPr>
          <a:xfrm>
            <a:off x="7115678" y="3040380"/>
            <a:ext cx="256032" cy="0"/>
          </a:xfrm>
          <a:prstGeom prst="line">
            <a:avLst/>
          </a:prstGeom>
          <a:noFill/>
          <a:ln w="25400">
            <a:solidFill>
              <a:schemeClr val="accent6"/>
            </a:solidFill>
            <a:prstDash val="solid"/>
            <a:tailEnd type="triangle"/>
          </a:ln>
        </p:spPr>
      </p:sp>
      <p:sp>
        <p:nvSpPr>
          <p:cNvPr id="22" name="card-123"/>
          <p:cNvSpPr/>
          <p:nvPr/>
        </p:nvSpPr>
        <p:spPr>
          <a:xfrm>
            <a:off x="7435718" y="1783080"/>
            <a:ext cx="1911645" cy="2514600"/>
          </a:xfrm>
          <a:prstGeom prst="roundRect">
            <a:avLst>
              <a:gd name="adj" fmla="val 3827"/>
            </a:avLst>
          </a:prstGeom>
          <a:solidFill>
            <a:schemeClr val="bg2"/>
          </a:solidFill>
          <a:ln/>
        </p:spPr>
      </p:sp>
      <p:sp>
        <p:nvSpPr>
          <p:cNvPr id="23" name="step-circle-124"/>
          <p:cNvSpPr/>
          <p:nvPr/>
        </p:nvSpPr>
        <p:spPr>
          <a:xfrm>
            <a:off x="7664318" y="2011680"/>
            <a:ext cx="457200" cy="457200"/>
          </a:xfrm>
          <a:prstGeom prst="ellipse">
            <a:avLst/>
          </a:prstGeom>
          <a:solidFill>
            <a:schemeClr val="tx2"/>
          </a:solidFill>
          <a:ln/>
        </p:spPr>
      </p:sp>
      <p:sp>
        <p:nvSpPr>
          <p:cNvPr id="24" name="step-num-125"/>
          <p:cNvSpPr txBox="1"/>
          <p:nvPr/>
        </p:nvSpPr>
        <p:spPr>
          <a:xfrm>
            <a:off x="7664318" y="2011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5" name="step-title-126"/>
          <p:cNvSpPr txBox="1"/>
          <p:nvPr/>
        </p:nvSpPr>
        <p:spPr>
          <a:xfrm>
            <a:off x="7664318" y="2606040"/>
            <a:ext cx="1454445" cy="365760"/>
          </a:xfrm>
          <a:prstGeom prst="rect">
            <a:avLst/>
          </a:prstGeom>
          <a:noFill/>
          <a:ln/>
        </p:spPr>
        <p:txBody>
          <a:bodyPr wrap="square" lIns="0" tIns="0" rIns="0" bIns="0" rtlCol="0" anchor="ctr"/>
          <a:lstStyle/>
          <a:p>
            <a:pPr indent="0" marL="0">
              <a:buNone/>
            </a:pPr>
            <a:r>
              <a:rPr lang="en-US" sz="1800" b="1" dirty="0">
                <a:solidFill>
                  <a:schemeClr val="tx1"/>
                </a:solidFill>
              </a:rPr>
              <a:t>Joint plant</a:t>
            </a:r>
            <a:endParaRPr lang="en-US" sz="1800" dirty="0"/>
          </a:p>
        </p:txBody>
      </p:sp>
      <p:sp>
        <p:nvSpPr>
          <p:cNvPr id="26" name="step-desc-127"/>
          <p:cNvSpPr txBox="1"/>
          <p:nvPr/>
        </p:nvSpPr>
        <p:spPr>
          <a:xfrm>
            <a:off x="7664318" y="3017520"/>
            <a:ext cx="1454445" cy="1097280"/>
          </a:xfrm>
          <a:prstGeom prst="rect">
            <a:avLst/>
          </a:prstGeom>
          <a:noFill/>
          <a:ln/>
        </p:spPr>
        <p:txBody>
          <a:bodyPr wrap="square" lIns="0" tIns="0" rIns="0" bIns="0" rtlCol="0" anchor="t"/>
          <a:lstStyle/>
          <a:p>
            <a:pPr indent="0" marL="0">
              <a:buNone/>
            </a:pPr>
            <a:r>
              <a:rPr lang="en-US" sz="1400" dirty="0">
                <a:solidFill>
                  <a:schemeClr val="accent6"/>
                </a:solidFill>
              </a:rPr>
              <a:t>RK4 at 1 kHz with gravity bias and Coulomb friction</a:t>
            </a:r>
            <a:endParaRPr lang="en-US" sz="1400" dirty="0"/>
          </a:p>
        </p:txBody>
      </p:sp>
      <p:sp>
        <p:nvSpPr>
          <p:cNvPr id="27" name="step-arrow-128"/>
          <p:cNvSpPr/>
          <p:nvPr/>
        </p:nvSpPr>
        <p:spPr>
          <a:xfrm>
            <a:off x="9411371" y="3040380"/>
            <a:ext cx="256032" cy="0"/>
          </a:xfrm>
          <a:prstGeom prst="line">
            <a:avLst/>
          </a:prstGeom>
          <a:noFill/>
          <a:ln w="25400">
            <a:solidFill>
              <a:schemeClr val="accent6"/>
            </a:solidFill>
            <a:prstDash val="solid"/>
            <a:tailEnd type="triangle"/>
          </a:ln>
        </p:spPr>
      </p:sp>
      <p:sp>
        <p:nvSpPr>
          <p:cNvPr id="28" name="card-129"/>
          <p:cNvSpPr/>
          <p:nvPr/>
        </p:nvSpPr>
        <p:spPr>
          <a:xfrm>
            <a:off x="9731411" y="1783080"/>
            <a:ext cx="1911645" cy="2514600"/>
          </a:xfrm>
          <a:prstGeom prst="roundRect">
            <a:avLst>
              <a:gd name="adj" fmla="val 3827"/>
            </a:avLst>
          </a:prstGeom>
          <a:solidFill>
            <a:schemeClr val="bg2"/>
          </a:solidFill>
          <a:ln/>
        </p:spPr>
      </p:sp>
      <p:sp>
        <p:nvSpPr>
          <p:cNvPr id="29" name="step-circle-130"/>
          <p:cNvSpPr/>
          <p:nvPr/>
        </p:nvSpPr>
        <p:spPr>
          <a:xfrm>
            <a:off x="9960011" y="2011680"/>
            <a:ext cx="457200" cy="457200"/>
          </a:xfrm>
          <a:prstGeom prst="ellipse">
            <a:avLst/>
          </a:prstGeom>
          <a:solidFill>
            <a:schemeClr val="tx2"/>
          </a:solidFill>
          <a:ln/>
        </p:spPr>
      </p:sp>
      <p:sp>
        <p:nvSpPr>
          <p:cNvPr id="30" name="step-num-131"/>
          <p:cNvSpPr txBox="1"/>
          <p:nvPr/>
        </p:nvSpPr>
        <p:spPr>
          <a:xfrm>
            <a:off x="9960011" y="2011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1" name="step-title-132"/>
          <p:cNvSpPr txBox="1"/>
          <p:nvPr/>
        </p:nvSpPr>
        <p:spPr>
          <a:xfrm>
            <a:off x="9960011" y="2606040"/>
            <a:ext cx="1454445" cy="365760"/>
          </a:xfrm>
          <a:prstGeom prst="rect">
            <a:avLst/>
          </a:prstGeom>
          <a:noFill/>
          <a:ln/>
        </p:spPr>
        <p:txBody>
          <a:bodyPr wrap="square" lIns="0" tIns="0" rIns="0" bIns="0" rtlCol="0" anchor="ctr"/>
          <a:lstStyle/>
          <a:p>
            <a:pPr indent="0" marL="0">
              <a:buNone/>
            </a:pPr>
            <a:r>
              <a:rPr lang="en-US" sz="1800" b="1" dirty="0">
                <a:solidFill>
                  <a:schemeClr val="tx1"/>
                </a:solidFill>
              </a:rPr>
              <a:t>Feedback</a:t>
            </a:r>
            <a:endParaRPr lang="en-US" sz="1800" dirty="0"/>
          </a:p>
        </p:txBody>
      </p:sp>
      <p:sp>
        <p:nvSpPr>
          <p:cNvPr id="32" name="step-desc-133"/>
          <p:cNvSpPr txBox="1"/>
          <p:nvPr/>
        </p:nvSpPr>
        <p:spPr>
          <a:xfrm>
            <a:off x="9960011" y="3017520"/>
            <a:ext cx="1454445" cy="1097280"/>
          </a:xfrm>
          <a:prstGeom prst="rect">
            <a:avLst/>
          </a:prstGeom>
          <a:noFill/>
          <a:ln/>
        </p:spPr>
        <p:txBody>
          <a:bodyPr wrap="square" lIns="0" tIns="0" rIns="0" bIns="0" rtlCol="0" anchor="t"/>
          <a:lstStyle/>
          <a:p>
            <a:pPr indent="0" marL="0">
              <a:buNone/>
            </a:pPr>
            <a:r>
              <a:rPr lang="en-US" sz="1400" dirty="0">
                <a:solidFill>
                  <a:schemeClr val="accent6"/>
                </a:solidFill>
              </a:rPr>
              <a:t>0 ms or 20 ms transport delay</a:t>
            </a:r>
            <a:endParaRPr lang="en-US" sz="1400" dirty="0"/>
          </a:p>
        </p:txBody>
      </p:sp>
      <p:sp>
        <p:nvSpPr>
          <p:cNvPr id="33" name="card-134"/>
          <p:cNvSpPr/>
          <p:nvPr/>
        </p:nvSpPr>
        <p:spPr>
          <a:xfrm>
            <a:off x="548640" y="4572000"/>
            <a:ext cx="5410048" cy="1600200"/>
          </a:xfrm>
          <a:prstGeom prst="roundRect">
            <a:avLst>
              <a:gd name="adj" fmla="val 4571"/>
            </a:avLst>
          </a:prstGeom>
          <a:solidFill>
            <a:schemeClr val="bg2"/>
          </a:solidFill>
          <a:ln/>
        </p:spPr>
      </p:sp>
      <p:sp>
        <p:nvSpPr>
          <p:cNvPr id="34" name="card-heading-135"/>
          <p:cNvSpPr txBox="1"/>
          <p:nvPr/>
        </p:nvSpPr>
        <p:spPr>
          <a:xfrm>
            <a:off x="822960" y="4773168"/>
            <a:ext cx="4541368" cy="411480"/>
          </a:xfrm>
          <a:prstGeom prst="rect">
            <a:avLst/>
          </a:prstGeom>
          <a:noFill/>
          <a:ln/>
        </p:spPr>
        <p:txBody>
          <a:bodyPr wrap="square" lIns="0" tIns="0" rIns="0" bIns="0" rtlCol="0" anchor="ctr"/>
          <a:lstStyle/>
          <a:p>
            <a:pPr indent="0" marL="0">
              <a:buNone/>
            </a:pPr>
            <a:r>
              <a:rPr lang="en-US" sz="1800" b="1" dirty="0">
                <a:solidFill>
                  <a:schemeClr val="tx1"/>
                </a:solidFill>
              </a:rPr>
              <a:t>Two scenarios per candidate</a:t>
            </a:r>
            <a:endParaRPr lang="en-US" sz="1800" dirty="0"/>
          </a:p>
        </p:txBody>
      </p:sp>
      <p:sp>
        <p:nvSpPr>
          <p:cNvPr id="35" name="card-body-136"/>
          <p:cNvSpPr txBox="1"/>
          <p:nvPr/>
        </p:nvSpPr>
        <p:spPr>
          <a:xfrm>
            <a:off x="822960" y="5349240"/>
            <a:ext cx="4861408" cy="6400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0 ms: local QUARC loop</a:t>
            </a:r>
            <a:endParaRPr lang="en-US" sz="1500" dirty="0"/>
          </a:p>
          <a:p>
            <a:pPr marL="342900" indent="-342900">
              <a:spcAft>
                <a:spcPts val="800"/>
              </a:spcAft>
              <a:buSzPct val="100000"/>
              <a:buChar char="•"/>
            </a:pPr>
            <a:r>
              <a:rPr lang="en-US" sz="1500" dirty="0">
                <a:solidFill>
                  <a:schemeClr val="tx1"/>
                </a:solidFill>
              </a:rPr>
              <a:t>20 ms: loop closed over one UDP period</a:t>
            </a:r>
            <a:endParaRPr lang="en-US" sz="1500" dirty="0"/>
          </a:p>
        </p:txBody>
      </p:sp>
      <p:sp>
        <p:nvSpPr>
          <p:cNvPr id="36" name="card-137"/>
          <p:cNvSpPr/>
          <p:nvPr/>
        </p:nvSpPr>
        <p:spPr>
          <a:xfrm>
            <a:off x="6233008" y="4572000"/>
            <a:ext cx="5410048" cy="1600200"/>
          </a:xfrm>
          <a:prstGeom prst="roundRect">
            <a:avLst>
              <a:gd name="adj" fmla="val 4571"/>
            </a:avLst>
          </a:prstGeom>
          <a:solidFill>
            <a:schemeClr val="bg2"/>
          </a:solidFill>
          <a:ln/>
        </p:spPr>
      </p:sp>
      <p:sp>
        <p:nvSpPr>
          <p:cNvPr id="37" name="card-heading-138"/>
          <p:cNvSpPr txBox="1"/>
          <p:nvPr/>
        </p:nvSpPr>
        <p:spPr>
          <a:xfrm>
            <a:off x="6507328" y="4773168"/>
            <a:ext cx="4541368" cy="411480"/>
          </a:xfrm>
          <a:prstGeom prst="rect">
            <a:avLst/>
          </a:prstGeom>
          <a:noFill/>
          <a:ln/>
        </p:spPr>
        <p:txBody>
          <a:bodyPr wrap="square" lIns="0" tIns="0" rIns="0" bIns="0" rtlCol="0" anchor="ctr"/>
          <a:lstStyle/>
          <a:p>
            <a:pPr indent="0" marL="0">
              <a:buNone/>
            </a:pPr>
            <a:r>
              <a:rPr lang="en-US" sz="1800" b="1" dirty="0">
                <a:solidFill>
                  <a:schemeClr val="tx1"/>
                </a:solidFill>
              </a:rPr>
              <a:t>Vectorised over the population</a:t>
            </a:r>
            <a:endParaRPr lang="en-US" sz="1800" dirty="0"/>
          </a:p>
        </p:txBody>
      </p:sp>
      <p:sp>
        <p:nvSpPr>
          <p:cNvPr id="38" name="card-body-139"/>
          <p:cNvSpPr txBox="1"/>
          <p:nvPr/>
        </p:nvSpPr>
        <p:spPr>
          <a:xfrm>
            <a:off x="6507328" y="5349240"/>
            <a:ext cx="4861408" cy="6400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30 candidates simulated in one numpy pass</a:t>
            </a:r>
            <a:endParaRPr lang="en-US" sz="1500" dirty="0"/>
          </a:p>
          <a:p>
            <a:pPr marL="342900" indent="-342900">
              <a:spcAft>
                <a:spcPts val="800"/>
              </a:spcAft>
              <a:buSzPct val="100000"/>
              <a:buChar char="•"/>
            </a:pPr>
            <a:r>
              <a:rPr lang="en-US" sz="1500" dirty="0">
                <a:solidFill>
                  <a:schemeClr val="tx1"/>
                </a:solidFill>
              </a:rPr>
              <a:t>About 0.1 s per iteration per scenario</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600" b="1" dirty="0">
                <a:solidFill>
                  <a:schemeClr val="tx1"/>
                </a:solidFill>
              </a:rPr>
              <a:t>One objective, two delay scenarios</a:t>
            </a:r>
            <a:endParaRPr lang="en-US" sz="36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6"/>
                </a:solidFill>
              </a:rPr>
              <a:t>Cost = mean over the 0 ms and 20 ms scenarios, summed over the three joints</a:t>
            </a:r>
            <a:endParaRPr lang="en-US" sz="1600" dirty="0"/>
          </a:p>
        </p:txBody>
      </p:sp>
      <p:sp>
        <p:nvSpPr>
          <p:cNvPr id="4" name="card-140"/>
          <p:cNvSpPr/>
          <p:nvPr/>
        </p:nvSpPr>
        <p:spPr>
          <a:xfrm>
            <a:off x="548640" y="1783080"/>
            <a:ext cx="6400800" cy="4389120"/>
          </a:xfrm>
          <a:prstGeom prst="roundRect">
            <a:avLst>
              <a:gd name="adj" fmla="val 1667"/>
            </a:avLst>
          </a:prstGeom>
          <a:solidFill>
            <a:schemeClr val="bg2"/>
          </a:solidFill>
          <a:ln/>
        </p:spPr>
      </p:sp>
      <p:sp>
        <p:nvSpPr>
          <p:cNvPr id="5" name="perf-heading"/>
          <p:cNvSpPr txBox="1"/>
          <p:nvPr/>
        </p:nvSpPr>
        <p:spPr>
          <a:xfrm>
            <a:off x="822960" y="1984248"/>
            <a:ext cx="5852160" cy="411480"/>
          </a:xfrm>
          <a:prstGeom prst="rect">
            <a:avLst/>
          </a:prstGeom>
          <a:noFill/>
          <a:ln/>
        </p:spPr>
        <p:txBody>
          <a:bodyPr wrap="square" lIns="0" tIns="0" rIns="0" bIns="0" rtlCol="0" anchor="ctr"/>
          <a:lstStyle/>
          <a:p>
            <a:pPr indent="0" marL="0">
              <a:buNone/>
            </a:pPr>
            <a:r>
              <a:rPr lang="en-US" sz="1800" b="1" dirty="0">
                <a:solidFill>
                  <a:schemeClr val="tx1"/>
                </a:solidFill>
              </a:rPr>
              <a:t>Performance terms</a:t>
            </a:r>
            <a:endParaRPr lang="en-US" sz="1800" dirty="0"/>
          </a:p>
        </p:txBody>
      </p:sp>
      <p:sp>
        <p:nvSpPr>
          <p:cNvPr id="6" name="term-row-141"/>
          <p:cNvSpPr/>
          <p:nvPr/>
        </p:nvSpPr>
        <p:spPr>
          <a:xfrm>
            <a:off x="822960" y="2606040"/>
            <a:ext cx="5852160" cy="548640"/>
          </a:xfrm>
          <a:prstGeom prst="roundRect">
            <a:avLst>
              <a:gd name="adj" fmla="val 10000"/>
            </a:avLst>
          </a:prstGeom>
          <a:solidFill>
            <a:schemeClr val="bg1"/>
          </a:solidFill>
          <a:ln/>
        </p:spPr>
      </p:sp>
      <p:sp>
        <p:nvSpPr>
          <p:cNvPr id="7" name="term-142"/>
          <p:cNvSpPr txBox="1"/>
          <p:nvPr/>
        </p:nvSpPr>
        <p:spPr>
          <a:xfrm>
            <a:off x="1005840" y="2606040"/>
            <a:ext cx="4389120" cy="548640"/>
          </a:xfrm>
          <a:prstGeom prst="rect">
            <a:avLst/>
          </a:prstGeom>
          <a:noFill/>
          <a:ln/>
        </p:spPr>
        <p:txBody>
          <a:bodyPr wrap="square" lIns="0" tIns="0" rIns="0" bIns="0" rtlCol="0" anchor="ctr"/>
          <a:lstStyle/>
          <a:p>
            <a:pPr indent="0" marL="0">
              <a:buNone/>
            </a:pPr>
            <a:r>
              <a:rPr lang="en-US" sz="1500" dirty="0">
                <a:solidFill>
                  <a:schemeClr val="tx1"/>
                </a:solidFill>
              </a:rPr>
              <a:t>ITAE (time-weighted absolute error)</a:t>
            </a:r>
            <a:endParaRPr lang="en-US" sz="1500" dirty="0"/>
          </a:p>
        </p:txBody>
      </p:sp>
      <p:sp>
        <p:nvSpPr>
          <p:cNvPr id="8" name="weight-143"/>
          <p:cNvSpPr txBox="1"/>
          <p:nvPr/>
        </p:nvSpPr>
        <p:spPr>
          <a:xfrm>
            <a:off x="5486400" y="2606040"/>
            <a:ext cx="1005840" cy="548640"/>
          </a:xfrm>
          <a:prstGeom prst="rect">
            <a:avLst/>
          </a:prstGeom>
          <a:noFill/>
          <a:ln/>
        </p:spPr>
        <p:txBody>
          <a:bodyPr wrap="square" lIns="0" tIns="0" rIns="0" bIns="0" rtlCol="0" anchor="ctr"/>
          <a:lstStyle/>
          <a:p>
            <a:pPr algn="r" indent="0" marL="0">
              <a:buNone/>
            </a:pPr>
            <a:r>
              <a:rPr lang="en-US" sz="1600" b="1" dirty="0">
                <a:solidFill>
                  <a:schemeClr val="tx1"/>
                </a:solidFill>
              </a:rPr>
              <a:t>× 4.0</a:t>
            </a:r>
            <a:endParaRPr lang="en-US" sz="1600" dirty="0"/>
          </a:p>
        </p:txBody>
      </p:sp>
      <p:sp>
        <p:nvSpPr>
          <p:cNvPr id="9" name="term-row-144"/>
          <p:cNvSpPr/>
          <p:nvPr/>
        </p:nvSpPr>
        <p:spPr>
          <a:xfrm>
            <a:off x="822960" y="3291840"/>
            <a:ext cx="5852160" cy="548640"/>
          </a:xfrm>
          <a:prstGeom prst="roundRect">
            <a:avLst>
              <a:gd name="adj" fmla="val 10000"/>
            </a:avLst>
          </a:prstGeom>
          <a:solidFill>
            <a:schemeClr val="bg1"/>
          </a:solidFill>
          <a:ln/>
        </p:spPr>
      </p:sp>
      <p:sp>
        <p:nvSpPr>
          <p:cNvPr id="10" name="term-145"/>
          <p:cNvSpPr txBox="1"/>
          <p:nvPr/>
        </p:nvSpPr>
        <p:spPr>
          <a:xfrm>
            <a:off x="1005840" y="3291840"/>
            <a:ext cx="4389120" cy="548640"/>
          </a:xfrm>
          <a:prstGeom prst="rect">
            <a:avLst/>
          </a:prstGeom>
          <a:noFill/>
          <a:ln/>
        </p:spPr>
        <p:txBody>
          <a:bodyPr wrap="square" lIns="0" tIns="0" rIns="0" bIns="0" rtlCol="0" anchor="ctr"/>
          <a:lstStyle/>
          <a:p>
            <a:pPr indent="0" marL="0">
              <a:buNone/>
            </a:pPr>
            <a:r>
              <a:rPr lang="en-US" sz="1500" dirty="0">
                <a:solidFill>
                  <a:schemeClr val="tx1"/>
                </a:solidFill>
              </a:rPr>
              <a:t>Overshoot (per unit)</a:t>
            </a:r>
            <a:endParaRPr lang="en-US" sz="1500" dirty="0"/>
          </a:p>
        </p:txBody>
      </p:sp>
      <p:sp>
        <p:nvSpPr>
          <p:cNvPr id="11" name="weight-146"/>
          <p:cNvSpPr txBox="1"/>
          <p:nvPr/>
        </p:nvSpPr>
        <p:spPr>
          <a:xfrm>
            <a:off x="5486400" y="3291840"/>
            <a:ext cx="1005840" cy="548640"/>
          </a:xfrm>
          <a:prstGeom prst="rect">
            <a:avLst/>
          </a:prstGeom>
          <a:noFill/>
          <a:ln/>
        </p:spPr>
        <p:txBody>
          <a:bodyPr wrap="square" lIns="0" tIns="0" rIns="0" bIns="0" rtlCol="0" anchor="ctr"/>
          <a:lstStyle/>
          <a:p>
            <a:pPr algn="r" indent="0" marL="0">
              <a:buNone/>
            </a:pPr>
            <a:r>
              <a:rPr lang="en-US" sz="1600" b="1" dirty="0">
                <a:solidFill>
                  <a:schemeClr val="tx1"/>
                </a:solidFill>
              </a:rPr>
              <a:t>× 2.0</a:t>
            </a:r>
            <a:endParaRPr lang="en-US" sz="1600" dirty="0"/>
          </a:p>
        </p:txBody>
      </p:sp>
      <p:sp>
        <p:nvSpPr>
          <p:cNvPr id="12" name="term-row-147"/>
          <p:cNvSpPr/>
          <p:nvPr/>
        </p:nvSpPr>
        <p:spPr>
          <a:xfrm>
            <a:off x="822960" y="3977640"/>
            <a:ext cx="5852160" cy="548640"/>
          </a:xfrm>
          <a:prstGeom prst="roundRect">
            <a:avLst>
              <a:gd name="adj" fmla="val 10000"/>
            </a:avLst>
          </a:prstGeom>
          <a:solidFill>
            <a:schemeClr val="bg1"/>
          </a:solidFill>
          <a:ln/>
        </p:spPr>
      </p:sp>
      <p:sp>
        <p:nvSpPr>
          <p:cNvPr id="13" name="term-148"/>
          <p:cNvSpPr txBox="1"/>
          <p:nvPr/>
        </p:nvSpPr>
        <p:spPr>
          <a:xfrm>
            <a:off x="1005840" y="3977640"/>
            <a:ext cx="4389120" cy="548640"/>
          </a:xfrm>
          <a:prstGeom prst="rect">
            <a:avLst/>
          </a:prstGeom>
          <a:noFill/>
          <a:ln/>
        </p:spPr>
        <p:txBody>
          <a:bodyPr wrap="square" lIns="0" tIns="0" rIns="0" bIns="0" rtlCol="0" anchor="ctr"/>
          <a:lstStyle/>
          <a:p>
            <a:pPr indent="0" marL="0">
              <a:buNone/>
            </a:pPr>
            <a:r>
              <a:rPr lang="en-US" sz="1500" dirty="0">
                <a:solidFill>
                  <a:schemeClr val="tx1"/>
                </a:solidFill>
              </a:rPr>
              <a:t>Settling time, 2 % band (per s)</a:t>
            </a:r>
            <a:endParaRPr lang="en-US" sz="1500" dirty="0"/>
          </a:p>
        </p:txBody>
      </p:sp>
      <p:sp>
        <p:nvSpPr>
          <p:cNvPr id="14" name="weight-149"/>
          <p:cNvSpPr txBox="1"/>
          <p:nvPr/>
        </p:nvSpPr>
        <p:spPr>
          <a:xfrm>
            <a:off x="5486400" y="3977640"/>
            <a:ext cx="1005840" cy="548640"/>
          </a:xfrm>
          <a:prstGeom prst="rect">
            <a:avLst/>
          </a:prstGeom>
          <a:noFill/>
          <a:ln/>
        </p:spPr>
        <p:txBody>
          <a:bodyPr wrap="square" lIns="0" tIns="0" rIns="0" bIns="0" rtlCol="0" anchor="ctr"/>
          <a:lstStyle/>
          <a:p>
            <a:pPr algn="r" indent="0" marL="0">
              <a:buNone/>
            </a:pPr>
            <a:r>
              <a:rPr lang="en-US" sz="1600" b="1" dirty="0">
                <a:solidFill>
                  <a:schemeClr val="tx1"/>
                </a:solidFill>
              </a:rPr>
              <a:t>× 1.0</a:t>
            </a:r>
            <a:endParaRPr lang="en-US" sz="1600" dirty="0"/>
          </a:p>
        </p:txBody>
      </p:sp>
      <p:sp>
        <p:nvSpPr>
          <p:cNvPr id="15" name="term-row-150"/>
          <p:cNvSpPr/>
          <p:nvPr/>
        </p:nvSpPr>
        <p:spPr>
          <a:xfrm>
            <a:off x="822960" y="4663440"/>
            <a:ext cx="5852160" cy="548640"/>
          </a:xfrm>
          <a:prstGeom prst="roundRect">
            <a:avLst>
              <a:gd name="adj" fmla="val 10000"/>
            </a:avLst>
          </a:prstGeom>
          <a:solidFill>
            <a:schemeClr val="bg1"/>
          </a:solidFill>
          <a:ln/>
        </p:spPr>
      </p:sp>
      <p:sp>
        <p:nvSpPr>
          <p:cNvPr id="16" name="term-151"/>
          <p:cNvSpPr txBox="1"/>
          <p:nvPr/>
        </p:nvSpPr>
        <p:spPr>
          <a:xfrm>
            <a:off x="1005840" y="4663440"/>
            <a:ext cx="4389120" cy="548640"/>
          </a:xfrm>
          <a:prstGeom prst="rect">
            <a:avLst/>
          </a:prstGeom>
          <a:noFill/>
          <a:ln/>
        </p:spPr>
        <p:txBody>
          <a:bodyPr wrap="square" lIns="0" tIns="0" rIns="0" bIns="0" rtlCol="0" anchor="ctr"/>
          <a:lstStyle/>
          <a:p>
            <a:pPr indent="0" marL="0">
              <a:buNone/>
            </a:pPr>
            <a:r>
              <a:rPr lang="en-US" sz="1500" dirty="0">
                <a:solidFill>
                  <a:schemeClr val="tx1"/>
                </a:solidFill>
              </a:rPr>
              <a:t>Steady-state error (per unit)</a:t>
            </a:r>
            <a:endParaRPr lang="en-US" sz="1500" dirty="0"/>
          </a:p>
        </p:txBody>
      </p:sp>
      <p:sp>
        <p:nvSpPr>
          <p:cNvPr id="17" name="weight-152"/>
          <p:cNvSpPr txBox="1"/>
          <p:nvPr/>
        </p:nvSpPr>
        <p:spPr>
          <a:xfrm>
            <a:off x="5486400" y="4663440"/>
            <a:ext cx="1005840" cy="548640"/>
          </a:xfrm>
          <a:prstGeom prst="rect">
            <a:avLst/>
          </a:prstGeom>
          <a:noFill/>
          <a:ln/>
        </p:spPr>
        <p:txBody>
          <a:bodyPr wrap="square" lIns="0" tIns="0" rIns="0" bIns="0" rtlCol="0" anchor="ctr"/>
          <a:lstStyle/>
          <a:p>
            <a:pPr algn="r" indent="0" marL="0">
              <a:buNone/>
            </a:pPr>
            <a:r>
              <a:rPr lang="en-US" sz="1600" b="1" dirty="0">
                <a:solidFill>
                  <a:schemeClr val="tx1"/>
                </a:solidFill>
              </a:rPr>
              <a:t>× 10.0</a:t>
            </a:r>
            <a:endParaRPr lang="en-US" sz="1600" dirty="0"/>
          </a:p>
        </p:txBody>
      </p:sp>
      <p:sp>
        <p:nvSpPr>
          <p:cNvPr id="18" name="term-row-153"/>
          <p:cNvSpPr/>
          <p:nvPr/>
        </p:nvSpPr>
        <p:spPr>
          <a:xfrm>
            <a:off x="822960" y="5349240"/>
            <a:ext cx="5852160" cy="548640"/>
          </a:xfrm>
          <a:prstGeom prst="roundRect">
            <a:avLst>
              <a:gd name="adj" fmla="val 10000"/>
            </a:avLst>
          </a:prstGeom>
          <a:solidFill>
            <a:schemeClr val="bg1"/>
          </a:solidFill>
          <a:ln/>
        </p:spPr>
      </p:sp>
      <p:sp>
        <p:nvSpPr>
          <p:cNvPr id="19" name="term-154"/>
          <p:cNvSpPr txBox="1"/>
          <p:nvPr/>
        </p:nvSpPr>
        <p:spPr>
          <a:xfrm>
            <a:off x="1005840" y="5349240"/>
            <a:ext cx="4389120" cy="548640"/>
          </a:xfrm>
          <a:prstGeom prst="rect">
            <a:avLst/>
          </a:prstGeom>
          <a:noFill/>
          <a:ln/>
        </p:spPr>
        <p:txBody>
          <a:bodyPr wrap="square" lIns="0" tIns="0" rIns="0" bIns="0" rtlCol="0" anchor="ctr"/>
          <a:lstStyle/>
          <a:p>
            <a:pPr indent="0" marL="0">
              <a:buNone/>
            </a:pPr>
            <a:r>
              <a:rPr lang="en-US" sz="1500" dirty="0">
                <a:solidFill>
                  <a:schemeClr val="tx1"/>
                </a:solidFill>
              </a:rPr>
              <a:t>RMS torque above continuous rating</a:t>
            </a:r>
            <a:endParaRPr lang="en-US" sz="1500" dirty="0"/>
          </a:p>
        </p:txBody>
      </p:sp>
      <p:sp>
        <p:nvSpPr>
          <p:cNvPr id="20" name="weight-155"/>
          <p:cNvSpPr txBox="1"/>
          <p:nvPr/>
        </p:nvSpPr>
        <p:spPr>
          <a:xfrm>
            <a:off x="5486400" y="5349240"/>
            <a:ext cx="1005840" cy="548640"/>
          </a:xfrm>
          <a:prstGeom prst="rect">
            <a:avLst/>
          </a:prstGeom>
          <a:noFill/>
          <a:ln/>
        </p:spPr>
        <p:txBody>
          <a:bodyPr wrap="square" lIns="0" tIns="0" rIns="0" bIns="0" rtlCol="0" anchor="ctr"/>
          <a:lstStyle/>
          <a:p>
            <a:pPr algn="r" indent="0" marL="0">
              <a:buNone/>
            </a:pPr>
            <a:r>
              <a:rPr lang="en-US" sz="1600" b="1" dirty="0">
                <a:solidFill>
                  <a:schemeClr val="tx1"/>
                </a:solidFill>
              </a:rPr>
              <a:t>× 0.5</a:t>
            </a:r>
            <a:endParaRPr lang="en-US" sz="1600" dirty="0"/>
          </a:p>
        </p:txBody>
      </p:sp>
      <p:sp>
        <p:nvSpPr>
          <p:cNvPr id="21" name="card-156"/>
          <p:cNvSpPr/>
          <p:nvPr/>
        </p:nvSpPr>
        <p:spPr>
          <a:xfrm>
            <a:off x="7223760" y="1783080"/>
            <a:ext cx="4419295" cy="1371600"/>
          </a:xfrm>
          <a:prstGeom prst="roundRect">
            <a:avLst>
              <a:gd name="adj" fmla="val 5333"/>
            </a:avLst>
          </a:prstGeom>
          <a:solidFill>
            <a:schemeClr val="bg2"/>
          </a:solidFill>
          <a:ln/>
        </p:spPr>
      </p:sp>
      <p:sp>
        <p:nvSpPr>
          <p:cNvPr id="22" name="dot-157"/>
          <p:cNvSpPr/>
          <p:nvPr/>
        </p:nvSpPr>
        <p:spPr>
          <a:xfrm>
            <a:off x="7406640" y="2029968"/>
            <a:ext cx="164592" cy="164592"/>
          </a:xfrm>
          <a:prstGeom prst="ellipse">
            <a:avLst/>
          </a:prstGeom>
          <a:solidFill>
            <a:schemeClr val="accent4"/>
          </a:solidFill>
          <a:ln/>
        </p:spPr>
      </p:sp>
      <p:sp>
        <p:nvSpPr>
          <p:cNvPr id="23" name="stat-label-158"/>
          <p:cNvSpPr txBox="1"/>
          <p:nvPr/>
        </p:nvSpPr>
        <p:spPr>
          <a:xfrm>
            <a:off x="7680960" y="1965960"/>
            <a:ext cx="3779215" cy="292608"/>
          </a:xfrm>
          <a:prstGeom prst="rect">
            <a:avLst/>
          </a:prstGeom>
          <a:noFill/>
          <a:ln/>
        </p:spPr>
        <p:txBody>
          <a:bodyPr wrap="square" lIns="0" tIns="0" rIns="0" bIns="0" rtlCol="0" anchor="ctr"/>
          <a:lstStyle/>
          <a:p>
            <a:pPr indent="0" marL="0">
              <a:buNone/>
            </a:pPr>
            <a:r>
              <a:rPr lang="en-US" sz="1400" b="1" dirty="0">
                <a:solidFill>
                  <a:schemeClr val="tx1"/>
                </a:solidFill>
              </a:rPr>
              <a:t>Phase margin &lt; 45°</a:t>
            </a:r>
            <a:endParaRPr lang="en-US" sz="1400" dirty="0"/>
          </a:p>
        </p:txBody>
      </p:sp>
      <p:sp>
        <p:nvSpPr>
          <p:cNvPr id="24" name="stat-value-159"/>
          <p:cNvSpPr txBox="1"/>
          <p:nvPr/>
        </p:nvSpPr>
        <p:spPr>
          <a:xfrm>
            <a:off x="7406640" y="2313432"/>
            <a:ext cx="4053535" cy="502920"/>
          </a:xfrm>
          <a:prstGeom prst="rect">
            <a:avLst/>
          </a:prstGeom>
          <a:noFill/>
          <a:ln/>
        </p:spPr>
        <p:txBody>
          <a:bodyPr wrap="square" lIns="0" tIns="0" rIns="0" bIns="0" rtlCol="0" anchor="ctr"/>
          <a:lstStyle/>
          <a:p>
            <a:pPr indent="0" marL="0">
              <a:buNone/>
            </a:pPr>
            <a:r>
              <a:rPr lang="en-US" sz="2200" b="1" dirty="0">
                <a:solidFill>
                  <a:schemeClr val="tx1"/>
                </a:solidFill>
              </a:rPr>
              <a:t>Penalty × 5</a:t>
            </a:r>
            <a:endParaRPr lang="en-US" sz="2200" dirty="0"/>
          </a:p>
        </p:txBody>
      </p:sp>
      <p:sp>
        <p:nvSpPr>
          <p:cNvPr id="25" name="card-160"/>
          <p:cNvSpPr/>
          <p:nvPr/>
        </p:nvSpPr>
        <p:spPr>
          <a:xfrm>
            <a:off x="7223760" y="3383280"/>
            <a:ext cx="4419295" cy="1371600"/>
          </a:xfrm>
          <a:prstGeom prst="roundRect">
            <a:avLst>
              <a:gd name="adj" fmla="val 5333"/>
            </a:avLst>
          </a:prstGeom>
          <a:solidFill>
            <a:schemeClr val="bg2"/>
          </a:solidFill>
          <a:ln/>
        </p:spPr>
      </p:sp>
      <p:sp>
        <p:nvSpPr>
          <p:cNvPr id="26" name="dot-161"/>
          <p:cNvSpPr/>
          <p:nvPr/>
        </p:nvSpPr>
        <p:spPr>
          <a:xfrm>
            <a:off x="7406640" y="3630168"/>
            <a:ext cx="164592" cy="164592"/>
          </a:xfrm>
          <a:prstGeom prst="ellipse">
            <a:avLst/>
          </a:prstGeom>
          <a:solidFill>
            <a:schemeClr val="accent4"/>
          </a:solidFill>
          <a:ln/>
        </p:spPr>
      </p:sp>
      <p:sp>
        <p:nvSpPr>
          <p:cNvPr id="27" name="stat-label-162"/>
          <p:cNvSpPr txBox="1"/>
          <p:nvPr/>
        </p:nvSpPr>
        <p:spPr>
          <a:xfrm>
            <a:off x="7680960" y="3566160"/>
            <a:ext cx="3779215" cy="292608"/>
          </a:xfrm>
          <a:prstGeom prst="rect">
            <a:avLst/>
          </a:prstGeom>
          <a:noFill/>
          <a:ln/>
        </p:spPr>
        <p:txBody>
          <a:bodyPr wrap="square" lIns="0" tIns="0" rIns="0" bIns="0" rtlCol="0" anchor="ctr"/>
          <a:lstStyle/>
          <a:p>
            <a:pPr indent="0" marL="0">
              <a:buNone/>
            </a:pPr>
            <a:r>
              <a:rPr lang="en-US" sz="1400" b="1" dirty="0">
                <a:solidFill>
                  <a:schemeClr val="tx1"/>
                </a:solidFill>
              </a:rPr>
              <a:t>Delay margin &lt; 30 ms</a:t>
            </a:r>
            <a:endParaRPr lang="en-US" sz="1400" dirty="0"/>
          </a:p>
        </p:txBody>
      </p:sp>
      <p:sp>
        <p:nvSpPr>
          <p:cNvPr id="28" name="stat-value-163"/>
          <p:cNvSpPr txBox="1"/>
          <p:nvPr/>
        </p:nvSpPr>
        <p:spPr>
          <a:xfrm>
            <a:off x="7406640" y="3913632"/>
            <a:ext cx="4053535" cy="502920"/>
          </a:xfrm>
          <a:prstGeom prst="rect">
            <a:avLst/>
          </a:prstGeom>
          <a:noFill/>
          <a:ln/>
        </p:spPr>
        <p:txBody>
          <a:bodyPr wrap="square" lIns="0" tIns="0" rIns="0" bIns="0" rtlCol="0" anchor="ctr"/>
          <a:lstStyle/>
          <a:p>
            <a:pPr indent="0" marL="0">
              <a:buNone/>
            </a:pPr>
            <a:r>
              <a:rPr lang="en-US" sz="2200" b="1" dirty="0">
                <a:solidFill>
                  <a:schemeClr val="tx1"/>
                </a:solidFill>
              </a:rPr>
              <a:t>Penalty × 5</a:t>
            </a:r>
            <a:endParaRPr lang="en-US" sz="2200" dirty="0"/>
          </a:p>
        </p:txBody>
      </p:sp>
      <p:sp>
        <p:nvSpPr>
          <p:cNvPr id="29" name="card-164"/>
          <p:cNvSpPr/>
          <p:nvPr/>
        </p:nvSpPr>
        <p:spPr>
          <a:xfrm>
            <a:off x="7223760" y="4983480"/>
            <a:ext cx="4419295" cy="1188720"/>
          </a:xfrm>
          <a:prstGeom prst="roundRect">
            <a:avLst>
              <a:gd name="adj" fmla="val 6154"/>
            </a:avLst>
          </a:prstGeom>
          <a:solidFill>
            <a:schemeClr val="bg2"/>
          </a:solidFill>
          <a:ln/>
        </p:spPr>
      </p:sp>
      <p:sp>
        <p:nvSpPr>
          <p:cNvPr id="30" name="cost-note"/>
          <p:cNvSpPr txBox="1"/>
          <p:nvPr/>
        </p:nvSpPr>
        <p:spPr>
          <a:xfrm>
            <a:off x="7452360" y="5074920"/>
            <a:ext cx="3962095" cy="1005840"/>
          </a:xfrm>
          <a:prstGeom prst="rect">
            <a:avLst/>
          </a:prstGeom>
          <a:noFill/>
          <a:ln/>
        </p:spPr>
        <p:txBody>
          <a:bodyPr wrap="square" lIns="0" tIns="0" rIns="0" bIns="0" rtlCol="0" anchor="ctr"/>
          <a:lstStyle/>
          <a:p>
            <a:pPr indent="0" marL="0">
              <a:buNone/>
            </a:pPr>
            <a:r>
              <a:rPr lang="en-US" sz="1400" dirty="0">
                <a:solidFill>
                  <a:schemeClr val="tx1"/>
                </a:solidFill>
              </a:rPr>
              <a:t>The thesis PD scores 18.54 on this objective, mostly from its steady-state error.</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600" b="1" dirty="0">
                <a:solidFill>
                  <a:schemeClr val="tx1"/>
                </a:solidFill>
              </a:rPr>
              <a:t>Two population-based optimizers</a:t>
            </a:r>
            <a:endParaRPr lang="en-US" sz="36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6"/>
                </a:solidFill>
              </a:rPr>
              <a:t>Same budget for both: 30 individuals × 60 iterations in the same 9-D search space</a:t>
            </a:r>
            <a:endParaRPr lang="en-US" sz="1600" dirty="0"/>
          </a:p>
        </p:txBody>
      </p:sp>
      <p:sp>
        <p:nvSpPr>
          <p:cNvPr id="4" name="card-165"/>
          <p:cNvSpPr/>
          <p:nvPr/>
        </p:nvSpPr>
        <p:spPr>
          <a:xfrm>
            <a:off x="548640" y="1783080"/>
            <a:ext cx="5410048" cy="3017520"/>
          </a:xfrm>
          <a:prstGeom prst="roundRect">
            <a:avLst>
              <a:gd name="adj" fmla="val 2424"/>
            </a:avLst>
          </a:prstGeom>
          <a:solidFill>
            <a:schemeClr val="bg2"/>
          </a:solidFill>
          <a:ln/>
        </p:spPr>
      </p:sp>
      <p:sp>
        <p:nvSpPr>
          <p:cNvPr id="5" name="dot-166"/>
          <p:cNvSpPr/>
          <p:nvPr/>
        </p:nvSpPr>
        <p:spPr>
          <a:xfrm>
            <a:off x="822960" y="2084832"/>
            <a:ext cx="201168" cy="201168"/>
          </a:xfrm>
          <a:prstGeom prst="ellipse">
            <a:avLst/>
          </a:prstGeom>
          <a:solidFill>
            <a:schemeClr val="accent1"/>
          </a:solidFill>
          <a:ln/>
        </p:spPr>
      </p:sp>
      <p:sp>
        <p:nvSpPr>
          <p:cNvPr id="6" name="card-heading-167"/>
          <p:cNvSpPr txBox="1"/>
          <p:nvPr/>
        </p:nvSpPr>
        <p:spPr>
          <a:xfrm>
            <a:off x="1143000" y="1984248"/>
            <a:ext cx="4541368" cy="411480"/>
          </a:xfrm>
          <a:prstGeom prst="rect">
            <a:avLst/>
          </a:prstGeom>
          <a:noFill/>
          <a:ln/>
        </p:spPr>
        <p:txBody>
          <a:bodyPr wrap="square" lIns="0" tIns="0" rIns="0" bIns="0" rtlCol="0" anchor="ctr"/>
          <a:lstStyle/>
          <a:p>
            <a:pPr indent="0" marL="0">
              <a:buNone/>
            </a:pPr>
            <a:r>
              <a:rPr lang="en-US" sz="1800" b="1" dirty="0">
                <a:solidFill>
                  <a:schemeClr val="tx1"/>
                </a:solidFill>
              </a:rPr>
              <a:t>Particle Swarm Optimization</a:t>
            </a:r>
            <a:endParaRPr lang="en-US" sz="1800" dirty="0"/>
          </a:p>
        </p:txBody>
      </p:sp>
      <p:sp>
        <p:nvSpPr>
          <p:cNvPr id="7" name="card-body-168"/>
          <p:cNvSpPr txBox="1"/>
          <p:nvPr/>
        </p:nvSpPr>
        <p:spPr>
          <a:xfrm>
            <a:off x="822960" y="2560320"/>
            <a:ext cx="4861408" cy="20574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Global-best swarm</a:t>
            </a:r>
            <a:endParaRPr lang="en-US" sz="1500" dirty="0"/>
          </a:p>
          <a:p>
            <a:pPr marL="342900" indent="-342900">
              <a:spcAft>
                <a:spcPts val="800"/>
              </a:spcAft>
              <a:buSzPct val="100000"/>
              <a:buChar char="•"/>
            </a:pPr>
            <a:r>
              <a:rPr lang="en-US" sz="1500" dirty="0">
                <a:solidFill>
                  <a:schemeClr val="tx1"/>
                </a:solidFill>
              </a:rPr>
              <a:t>Inertia weight decreasing 0.9 → 0.4</a:t>
            </a:r>
            <a:endParaRPr lang="en-US" sz="1500" dirty="0"/>
          </a:p>
          <a:p>
            <a:pPr marL="342900" indent="-342900">
              <a:spcAft>
                <a:spcPts val="800"/>
              </a:spcAft>
              <a:buSzPct val="100000"/>
              <a:buChar char="•"/>
            </a:pPr>
            <a:r>
              <a:rPr lang="en-US" sz="1500" dirty="0">
                <a:solidFill>
                  <a:schemeClr val="tx1"/>
                </a:solidFill>
              </a:rPr>
              <a:t>Cognitive c1 = 1.6, social c2 = 1.6</a:t>
            </a:r>
            <a:endParaRPr lang="en-US" sz="1500" dirty="0"/>
          </a:p>
          <a:p>
            <a:pPr marL="342900" indent="-342900">
              <a:spcAft>
                <a:spcPts val="800"/>
              </a:spcAft>
              <a:buSzPct val="100000"/>
              <a:buChar char="•"/>
            </a:pPr>
            <a:r>
              <a:rPr lang="en-US" sz="1500" dirty="0">
                <a:solidFill>
                  <a:schemeClr val="tx1"/>
                </a:solidFill>
              </a:rPr>
              <a:t>Velocity clamped to 20 % of the range</a:t>
            </a:r>
            <a:endParaRPr lang="en-US" sz="1500" dirty="0"/>
          </a:p>
          <a:p>
            <a:pPr marL="342900" indent="-342900">
              <a:spcAft>
                <a:spcPts val="800"/>
              </a:spcAft>
              <a:buSzPct val="100000"/>
              <a:buChar char="•"/>
            </a:pPr>
            <a:r>
              <a:rPr lang="en-US" sz="1500" dirty="0">
                <a:solidFill>
                  <a:schemeClr val="tx1"/>
                </a:solidFill>
              </a:rPr>
              <a:t>Reflective search-space walls</a:t>
            </a:r>
            <a:endParaRPr lang="en-US" sz="1500" dirty="0"/>
          </a:p>
        </p:txBody>
      </p:sp>
      <p:sp>
        <p:nvSpPr>
          <p:cNvPr id="8" name="card-169"/>
          <p:cNvSpPr/>
          <p:nvPr/>
        </p:nvSpPr>
        <p:spPr>
          <a:xfrm>
            <a:off x="6233008" y="1783080"/>
            <a:ext cx="5410048" cy="3017520"/>
          </a:xfrm>
          <a:prstGeom prst="roundRect">
            <a:avLst>
              <a:gd name="adj" fmla="val 2424"/>
            </a:avLst>
          </a:prstGeom>
          <a:solidFill>
            <a:schemeClr val="bg2"/>
          </a:solidFill>
          <a:ln/>
        </p:spPr>
      </p:sp>
      <p:sp>
        <p:nvSpPr>
          <p:cNvPr id="9" name="dot-170"/>
          <p:cNvSpPr/>
          <p:nvPr/>
        </p:nvSpPr>
        <p:spPr>
          <a:xfrm>
            <a:off x="6507328" y="2084832"/>
            <a:ext cx="201168" cy="201168"/>
          </a:xfrm>
          <a:prstGeom prst="ellipse">
            <a:avLst/>
          </a:prstGeom>
          <a:solidFill>
            <a:schemeClr val="accent2"/>
          </a:solidFill>
          <a:ln/>
        </p:spPr>
      </p:sp>
      <p:sp>
        <p:nvSpPr>
          <p:cNvPr id="10" name="card-heading-171"/>
          <p:cNvSpPr txBox="1"/>
          <p:nvPr/>
        </p:nvSpPr>
        <p:spPr>
          <a:xfrm>
            <a:off x="6827368" y="1984248"/>
            <a:ext cx="4541368" cy="411480"/>
          </a:xfrm>
          <a:prstGeom prst="rect">
            <a:avLst/>
          </a:prstGeom>
          <a:noFill/>
          <a:ln/>
        </p:spPr>
        <p:txBody>
          <a:bodyPr wrap="square" lIns="0" tIns="0" rIns="0" bIns="0" rtlCol="0" anchor="ctr"/>
          <a:lstStyle/>
          <a:p>
            <a:pPr indent="0" marL="0">
              <a:buNone/>
            </a:pPr>
            <a:r>
              <a:rPr lang="en-US" sz="1800" b="1" dirty="0">
                <a:solidFill>
                  <a:schemeClr val="tx1"/>
                </a:solidFill>
              </a:rPr>
              <a:t>Genetic Algorithm</a:t>
            </a:r>
            <a:endParaRPr lang="en-US" sz="1800" dirty="0"/>
          </a:p>
        </p:txBody>
      </p:sp>
      <p:sp>
        <p:nvSpPr>
          <p:cNvPr id="11" name="card-body-172"/>
          <p:cNvSpPr txBox="1"/>
          <p:nvPr/>
        </p:nvSpPr>
        <p:spPr>
          <a:xfrm>
            <a:off x="6507328" y="2560320"/>
            <a:ext cx="4861408" cy="20574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Real-coded, tournament selection (k = 3)</a:t>
            </a:r>
            <a:endParaRPr lang="en-US" sz="1500" dirty="0"/>
          </a:p>
          <a:p>
            <a:pPr marL="342900" indent="-342900">
              <a:spcAft>
                <a:spcPts val="800"/>
              </a:spcAft>
              <a:buSzPct val="100000"/>
              <a:buChar char="•"/>
            </a:pPr>
            <a:r>
              <a:rPr lang="en-US" sz="1500" dirty="0">
                <a:solidFill>
                  <a:schemeClr val="tx1"/>
                </a:solidFill>
              </a:rPr>
              <a:t>SBX crossover, η = 15, rate 0.9</a:t>
            </a:r>
            <a:endParaRPr lang="en-US" sz="1500" dirty="0"/>
          </a:p>
          <a:p>
            <a:pPr marL="342900" indent="-342900">
              <a:spcAft>
                <a:spcPts val="800"/>
              </a:spcAft>
              <a:buSzPct val="100000"/>
              <a:buChar char="•"/>
            </a:pPr>
            <a:r>
              <a:rPr lang="en-US" sz="1500" dirty="0">
                <a:solidFill>
                  <a:schemeClr val="tx1"/>
                </a:solidFill>
              </a:rPr>
              <a:t>Gaussian mutation, 20 % per gene, σ = 10 % of range</a:t>
            </a:r>
            <a:endParaRPr lang="en-US" sz="1500" dirty="0"/>
          </a:p>
          <a:p>
            <a:pPr marL="342900" indent="-342900">
              <a:spcAft>
                <a:spcPts val="800"/>
              </a:spcAft>
              <a:buSzPct val="100000"/>
              <a:buChar char="•"/>
            </a:pPr>
            <a:r>
              <a:rPr lang="en-US" sz="1500" dirty="0">
                <a:solidFill>
                  <a:schemeClr val="tx1"/>
                </a:solidFill>
              </a:rPr>
              <a:t>Elitism: the 2 best survive unchanged</a:t>
            </a:r>
            <a:endParaRPr lang="en-US" sz="1500" dirty="0"/>
          </a:p>
          <a:p>
            <a:pPr marL="342900" indent="-342900">
              <a:spcAft>
                <a:spcPts val="800"/>
              </a:spcAft>
              <a:buSzPct val="100000"/>
              <a:buChar char="•"/>
            </a:pPr>
            <a:r>
              <a:rPr lang="en-US" sz="1500" dirty="0">
                <a:solidFill>
                  <a:schemeClr val="tx1"/>
                </a:solidFill>
              </a:rPr>
              <a:t>Bounded genes</a:t>
            </a:r>
            <a:endParaRPr lang="en-US" sz="1500" dirty="0"/>
          </a:p>
        </p:txBody>
      </p:sp>
      <p:sp>
        <p:nvSpPr>
          <p:cNvPr id="12" name="card-173"/>
          <p:cNvSpPr/>
          <p:nvPr/>
        </p:nvSpPr>
        <p:spPr>
          <a:xfrm>
            <a:off x="548640" y="5074920"/>
            <a:ext cx="11094415" cy="1005840"/>
          </a:xfrm>
          <a:prstGeom prst="roundRect">
            <a:avLst>
              <a:gd name="adj" fmla="val 7273"/>
            </a:avLst>
          </a:prstGeom>
          <a:solidFill>
            <a:schemeClr val="bg2"/>
          </a:solidFill>
          <a:ln/>
        </p:spPr>
      </p:sp>
      <p:sp>
        <p:nvSpPr>
          <p:cNvPr id="13" name="shared-setup"/>
          <p:cNvSpPr txBox="1"/>
          <p:nvPr/>
        </p:nvSpPr>
        <p:spPr>
          <a:xfrm>
            <a:off x="822960" y="5074920"/>
            <a:ext cx="10545775" cy="1005840"/>
          </a:xfrm>
          <a:prstGeom prst="rect">
            <a:avLst/>
          </a:prstGeom>
          <a:noFill/>
          <a:ln/>
        </p:spPr>
        <p:txBody>
          <a:bodyPr wrap="square" lIns="0" tIns="0" rIns="0" bIns="0" rtlCol="0" anchor="ctr"/>
          <a:lstStyle/>
          <a:p>
            <a:pPr indent="0" marL="0">
              <a:buNone/>
            </a:pPr>
            <a:r>
              <a:rPr lang="en-US" sz="1500" b="1" dirty="0">
                <a:solidFill>
                  <a:schemeClr val="tx1"/>
                </a:solidFill>
              </a:rPr>
              <a:t>Shared setup:  </a:t>
            </a:r>
            <a:pPr indent="0" marL="0">
              <a:buNone/>
            </a:pPr>
            <a:r>
              <a:rPr lang="en-US" sz="1500" dirty="0">
                <a:solidFill>
                  <a:schemeClr val="tx1"/>
                </a:solidFill>
              </a:rPr>
              <a:t>Kp ∈ [0.1, 8],  Ki ∈ [0, 8],  Kd ∈ [0, 0.4] per joint  ·  thesis PD seeded as one individual  ·  random seed 0</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600" b="1" dirty="0">
                <a:solidFill>
                  <a:schemeClr val="tx1"/>
                </a:solidFill>
              </a:rPr>
              <a:t>Convergence</a:t>
            </a:r>
            <a:endParaRPr lang="en-US" sz="36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6"/>
                </a:solidFill>
              </a:rPr>
              <a:t>PSO finishes 29 % below GA; both beat the thesis PD cost from the first iterations</a:t>
            </a:r>
            <a:endParaRPr lang="en-US" sz="1600" dirty="0"/>
          </a:p>
        </p:txBody>
      </p:sp>
      <p:pic>
        <p:nvPicPr>
          <p:cNvPr id="4" name="figure-174" descr="Best and mean cost per iteration for PSO and GA against the thesis PD cost">    </p:cNvPr>
          <p:cNvPicPr>
            <a:picLocks noChangeAspect="1"/>
          </p:cNvPicPr>
          <p:nvPr/>
        </p:nvPicPr>
        <p:blipFill>
          <a:blip r:embed="rId1"/>
          <a:stretch>
            <a:fillRect/>
          </a:stretch>
        </p:blipFill>
        <p:spPr>
          <a:xfrm>
            <a:off x="548640" y="1645920"/>
            <a:ext cx="6949440" cy="3909060"/>
          </a:xfrm>
          <a:prstGeom prst="rect">
            <a:avLst/>
          </a:prstGeom>
        </p:spPr>
      </p:pic>
      <p:sp>
        <p:nvSpPr>
          <p:cNvPr id="5" name="card-175"/>
          <p:cNvSpPr/>
          <p:nvPr/>
        </p:nvSpPr>
        <p:spPr>
          <a:xfrm>
            <a:off x="7818120" y="1783080"/>
            <a:ext cx="3824935" cy="1051560"/>
          </a:xfrm>
          <a:prstGeom prst="roundRect">
            <a:avLst>
              <a:gd name="adj" fmla="val 6957"/>
            </a:avLst>
          </a:prstGeom>
          <a:solidFill>
            <a:schemeClr val="bg2"/>
          </a:solidFill>
          <a:ln/>
        </p:spPr>
      </p:sp>
      <p:sp>
        <p:nvSpPr>
          <p:cNvPr id="6" name="dot-176"/>
          <p:cNvSpPr/>
          <p:nvPr/>
        </p:nvSpPr>
        <p:spPr>
          <a:xfrm>
            <a:off x="8001000" y="2029968"/>
            <a:ext cx="164592" cy="164592"/>
          </a:xfrm>
          <a:prstGeom prst="ellipse">
            <a:avLst/>
          </a:prstGeom>
          <a:solidFill>
            <a:schemeClr val="accent3"/>
          </a:solidFill>
          <a:ln/>
        </p:spPr>
      </p:sp>
      <p:sp>
        <p:nvSpPr>
          <p:cNvPr id="7" name="stat-label-177"/>
          <p:cNvSpPr txBox="1"/>
          <p:nvPr/>
        </p:nvSpPr>
        <p:spPr>
          <a:xfrm>
            <a:off x="8275320" y="1965960"/>
            <a:ext cx="3184855" cy="292608"/>
          </a:xfrm>
          <a:prstGeom prst="rect">
            <a:avLst/>
          </a:prstGeom>
          <a:noFill/>
          <a:ln/>
        </p:spPr>
        <p:txBody>
          <a:bodyPr wrap="square" lIns="0" tIns="0" rIns="0" bIns="0" rtlCol="0" anchor="ctr"/>
          <a:lstStyle/>
          <a:p>
            <a:pPr indent="0" marL="0">
              <a:buNone/>
            </a:pPr>
            <a:r>
              <a:rPr lang="en-US" sz="1400" b="1" dirty="0">
                <a:solidFill>
                  <a:schemeClr val="tx1"/>
                </a:solidFill>
              </a:rPr>
              <a:t>Thesis PD</a:t>
            </a:r>
            <a:endParaRPr lang="en-US" sz="1400" dirty="0"/>
          </a:p>
        </p:txBody>
      </p:sp>
      <p:sp>
        <p:nvSpPr>
          <p:cNvPr id="8" name="stat-value-178"/>
          <p:cNvSpPr txBox="1"/>
          <p:nvPr/>
        </p:nvSpPr>
        <p:spPr>
          <a:xfrm>
            <a:off x="8001000" y="2313432"/>
            <a:ext cx="3459175" cy="502920"/>
          </a:xfrm>
          <a:prstGeom prst="rect">
            <a:avLst/>
          </a:prstGeom>
          <a:noFill/>
          <a:ln/>
        </p:spPr>
        <p:txBody>
          <a:bodyPr wrap="square" lIns="0" tIns="0" rIns="0" bIns="0" rtlCol="0" anchor="ctr"/>
          <a:lstStyle/>
          <a:p>
            <a:pPr indent="0" marL="0">
              <a:buNone/>
            </a:pPr>
            <a:r>
              <a:rPr lang="en-US" sz="2600" b="1" dirty="0">
                <a:solidFill>
                  <a:schemeClr val="tx1"/>
                </a:solidFill>
              </a:rPr>
              <a:t>18.54</a:t>
            </a:r>
            <a:endParaRPr lang="en-US" sz="2600" dirty="0"/>
          </a:p>
        </p:txBody>
      </p:sp>
      <p:sp>
        <p:nvSpPr>
          <p:cNvPr id="9" name="card-179"/>
          <p:cNvSpPr/>
          <p:nvPr/>
        </p:nvSpPr>
        <p:spPr>
          <a:xfrm>
            <a:off x="7818120" y="3063240"/>
            <a:ext cx="3824935" cy="1051560"/>
          </a:xfrm>
          <a:prstGeom prst="roundRect">
            <a:avLst>
              <a:gd name="adj" fmla="val 6957"/>
            </a:avLst>
          </a:prstGeom>
          <a:solidFill>
            <a:schemeClr val="bg2"/>
          </a:solidFill>
          <a:ln/>
        </p:spPr>
      </p:sp>
      <p:sp>
        <p:nvSpPr>
          <p:cNvPr id="10" name="dot-180"/>
          <p:cNvSpPr/>
          <p:nvPr/>
        </p:nvSpPr>
        <p:spPr>
          <a:xfrm>
            <a:off x="8001000" y="3310128"/>
            <a:ext cx="164592" cy="164592"/>
          </a:xfrm>
          <a:prstGeom prst="ellipse">
            <a:avLst/>
          </a:prstGeom>
          <a:solidFill>
            <a:schemeClr val="accent2"/>
          </a:solidFill>
          <a:ln/>
        </p:spPr>
      </p:sp>
      <p:sp>
        <p:nvSpPr>
          <p:cNvPr id="11" name="stat-label-181"/>
          <p:cNvSpPr txBox="1"/>
          <p:nvPr/>
        </p:nvSpPr>
        <p:spPr>
          <a:xfrm>
            <a:off x="8275320" y="3246120"/>
            <a:ext cx="3184855" cy="292608"/>
          </a:xfrm>
          <a:prstGeom prst="rect">
            <a:avLst/>
          </a:prstGeom>
          <a:noFill/>
          <a:ln/>
        </p:spPr>
        <p:txBody>
          <a:bodyPr wrap="square" lIns="0" tIns="0" rIns="0" bIns="0" rtlCol="0" anchor="ctr"/>
          <a:lstStyle/>
          <a:p>
            <a:pPr indent="0" marL="0">
              <a:buNone/>
            </a:pPr>
            <a:r>
              <a:rPr lang="en-US" sz="1400" b="1" dirty="0">
                <a:solidFill>
                  <a:schemeClr val="tx1"/>
                </a:solidFill>
              </a:rPr>
              <a:t>GA-PID</a:t>
            </a:r>
            <a:endParaRPr lang="en-US" sz="1400" dirty="0"/>
          </a:p>
        </p:txBody>
      </p:sp>
      <p:sp>
        <p:nvSpPr>
          <p:cNvPr id="12" name="stat-value-182"/>
          <p:cNvSpPr txBox="1"/>
          <p:nvPr/>
        </p:nvSpPr>
        <p:spPr>
          <a:xfrm>
            <a:off x="8001000" y="3593592"/>
            <a:ext cx="3459175" cy="502920"/>
          </a:xfrm>
          <a:prstGeom prst="rect">
            <a:avLst/>
          </a:prstGeom>
          <a:noFill/>
          <a:ln/>
        </p:spPr>
        <p:txBody>
          <a:bodyPr wrap="square" lIns="0" tIns="0" rIns="0" bIns="0" rtlCol="0" anchor="ctr"/>
          <a:lstStyle/>
          <a:p>
            <a:pPr indent="0" marL="0">
              <a:buNone/>
            </a:pPr>
            <a:r>
              <a:rPr lang="en-US" sz="2600" b="1" dirty="0">
                <a:solidFill>
                  <a:schemeClr val="tx1"/>
                </a:solidFill>
              </a:rPr>
              <a:t>1.47</a:t>
            </a:r>
            <a:endParaRPr lang="en-US" sz="2600" dirty="0"/>
          </a:p>
        </p:txBody>
      </p:sp>
      <p:sp>
        <p:nvSpPr>
          <p:cNvPr id="13" name="card-183"/>
          <p:cNvSpPr/>
          <p:nvPr/>
        </p:nvSpPr>
        <p:spPr>
          <a:xfrm>
            <a:off x="7818120" y="4343400"/>
            <a:ext cx="3824935" cy="1051560"/>
          </a:xfrm>
          <a:prstGeom prst="roundRect">
            <a:avLst>
              <a:gd name="adj" fmla="val 6957"/>
            </a:avLst>
          </a:prstGeom>
          <a:solidFill>
            <a:schemeClr val="bg2"/>
          </a:solidFill>
          <a:ln/>
        </p:spPr>
      </p:sp>
      <p:sp>
        <p:nvSpPr>
          <p:cNvPr id="14" name="dot-184"/>
          <p:cNvSpPr/>
          <p:nvPr/>
        </p:nvSpPr>
        <p:spPr>
          <a:xfrm>
            <a:off x="8001000" y="4590288"/>
            <a:ext cx="164592" cy="164592"/>
          </a:xfrm>
          <a:prstGeom prst="ellipse">
            <a:avLst/>
          </a:prstGeom>
          <a:solidFill>
            <a:schemeClr val="accent1"/>
          </a:solidFill>
          <a:ln/>
        </p:spPr>
      </p:sp>
      <p:sp>
        <p:nvSpPr>
          <p:cNvPr id="15" name="stat-label-185"/>
          <p:cNvSpPr txBox="1"/>
          <p:nvPr/>
        </p:nvSpPr>
        <p:spPr>
          <a:xfrm>
            <a:off x="8275320" y="4526280"/>
            <a:ext cx="3184855" cy="292608"/>
          </a:xfrm>
          <a:prstGeom prst="rect">
            <a:avLst/>
          </a:prstGeom>
          <a:noFill/>
          <a:ln/>
        </p:spPr>
        <p:txBody>
          <a:bodyPr wrap="square" lIns="0" tIns="0" rIns="0" bIns="0" rtlCol="0" anchor="ctr"/>
          <a:lstStyle/>
          <a:p>
            <a:pPr indent="0" marL="0">
              <a:buNone/>
            </a:pPr>
            <a:r>
              <a:rPr lang="en-US" sz="1400" b="1" dirty="0">
                <a:solidFill>
                  <a:schemeClr val="tx1"/>
                </a:solidFill>
              </a:rPr>
              <a:t>PSO-PID</a:t>
            </a:r>
            <a:endParaRPr lang="en-US" sz="1400" dirty="0"/>
          </a:p>
        </p:txBody>
      </p:sp>
      <p:sp>
        <p:nvSpPr>
          <p:cNvPr id="16" name="stat-value-186"/>
          <p:cNvSpPr txBox="1"/>
          <p:nvPr/>
        </p:nvSpPr>
        <p:spPr>
          <a:xfrm>
            <a:off x="8001000" y="4873752"/>
            <a:ext cx="3459175" cy="502920"/>
          </a:xfrm>
          <a:prstGeom prst="rect">
            <a:avLst/>
          </a:prstGeom>
          <a:noFill/>
          <a:ln/>
        </p:spPr>
        <p:txBody>
          <a:bodyPr wrap="square" lIns="0" tIns="0" rIns="0" bIns="0" rtlCol="0" anchor="ctr"/>
          <a:lstStyle/>
          <a:p>
            <a:pPr indent="0" marL="0">
              <a:buNone/>
            </a:pPr>
            <a:r>
              <a:rPr lang="en-US" sz="2600" b="1" dirty="0">
                <a:solidFill>
                  <a:schemeClr val="tx1"/>
                </a:solidFill>
              </a:rPr>
              <a:t>1.05</a:t>
            </a:r>
            <a:endParaRPr lang="en-US" sz="2600" dirty="0"/>
          </a:p>
        </p:txBody>
      </p:sp>
      <p:sp>
        <p:nvSpPr>
          <p:cNvPr id="17" name="conv-note"/>
          <p:cNvSpPr txBox="1"/>
          <p:nvPr/>
        </p:nvSpPr>
        <p:spPr>
          <a:xfrm>
            <a:off x="7818120" y="5577840"/>
            <a:ext cx="3824935" cy="548640"/>
          </a:xfrm>
          <a:prstGeom prst="rect">
            <a:avLst/>
          </a:prstGeom>
          <a:noFill/>
          <a:ln/>
        </p:spPr>
        <p:txBody>
          <a:bodyPr wrap="square" lIns="0" tIns="0" rIns="0" bIns="0" rtlCol="0" anchor="t"/>
          <a:lstStyle/>
          <a:p>
            <a:pPr indent="0" marL="0">
              <a:buNone/>
            </a:pPr>
            <a:r>
              <a:rPr lang="en-US" sz="1400" dirty="0">
                <a:solidFill>
                  <a:schemeClr val="accent6"/>
                </a:solidFill>
              </a:rPr>
              <a:t>GA: 1710 evaluations in 14.8 s</a:t>
            </a:r>
            <a:endParaRPr lang="en-US" sz="1400" dirty="0"/>
          </a:p>
          <a:p>
            <a:pPr indent="0" marL="0">
              <a:buNone/>
            </a:pPr>
            <a:r>
              <a:rPr lang="en-US" sz="1400" dirty="0">
                <a:solidFill>
                  <a:schemeClr val="accent6"/>
                </a:solidFill>
              </a:rPr>
              <a:t>PSO: 1830 evaluations in 13.7 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600" b="1" dirty="0">
                <a:solidFill>
                  <a:schemeClr val="tx1"/>
                </a:solidFill>
              </a:rPr>
              <a:t>How the populations evolve</a:t>
            </a:r>
            <a:endParaRPr lang="en-US" sz="36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6"/>
                </a:solidFill>
              </a:rPr>
              <a:t>Both searches converge below the thesis PD point, at Kp ≈ 0.9-1.1 and Kd ≈ 0.06-0.07 for joint 1</a:t>
            </a:r>
            <a:endParaRPr lang="en-US" sz="1600" dirty="0"/>
          </a:p>
        </p:txBody>
      </p:sp>
      <p:pic>
        <p:nvPicPr>
          <p:cNvPr id="4" name="figure-187" descr="PSO swarm in the Kp-Kd plane at iterations 0, 5, 20 and 60">    </p:cNvPr>
          <p:cNvPicPr>
            <a:picLocks noChangeAspect="1"/>
          </p:cNvPicPr>
          <p:nvPr/>
        </p:nvPicPr>
        <p:blipFill>
          <a:blip r:embed="rId1"/>
          <a:stretch>
            <a:fillRect/>
          </a:stretch>
        </p:blipFill>
        <p:spPr>
          <a:xfrm>
            <a:off x="1432408" y="1645920"/>
            <a:ext cx="9326880" cy="2215134"/>
          </a:xfrm>
          <a:prstGeom prst="rect">
            <a:avLst/>
          </a:prstGeom>
        </p:spPr>
      </p:pic>
      <p:pic>
        <p:nvPicPr>
          <p:cNvPr id="5" name="figure-188" descr="GA population in the Kp-Kd plane at iterations 0, 5, 20 and 60">    </p:cNvPr>
          <p:cNvPicPr>
            <a:picLocks noChangeAspect="1"/>
          </p:cNvPicPr>
          <p:nvPr/>
        </p:nvPicPr>
        <p:blipFill>
          <a:blip r:embed="rId2"/>
          <a:stretch>
            <a:fillRect/>
          </a:stretch>
        </p:blipFill>
        <p:spPr>
          <a:xfrm>
            <a:off x="1432408" y="3998214"/>
            <a:ext cx="9326880" cy="2215134"/>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600" b="1" dirty="0">
                <a:solidFill>
                  <a:schemeClr val="tx1"/>
                </a:solidFill>
              </a:rPr>
              <a:t>Tuned gains and stability margins</a:t>
            </a:r>
            <a:endParaRPr lang="en-US" sz="36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6"/>
                </a:solidFill>
              </a:rPr>
              <a:t>Both optimizers trade bandwidth (ωc 21-30 rad/s) for integral action and larger delay margins</a:t>
            </a:r>
            <a:endParaRPr lang="en-US" sz="1600" dirty="0"/>
          </a:p>
        </p:txBody>
      </p:sp>
      <p:graphicFrame>
        <p:nvGraphicFramePr>
          <p:cNvPr id="12" name="gains-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1828800"/>
                <a:gridCol w="822960"/>
                <a:gridCol w="1234440"/>
                <a:gridCol w="1234440"/>
                <a:gridCol w="1234440"/>
                <a:gridCol w="1234440"/>
                <a:gridCol w="1508760"/>
                <a:gridCol w="1993392"/>
              </a:tblGrid>
              <a:tr h="411480">
                <a:tc>
                  <a:txBody>
                    <a:bodyPr/>
                    <a:lstStyle/>
                    <a:p>
                      <a:pPr algn="ctr" indent="0" marL="0">
                        <a:buNone/>
                      </a:pPr>
                      <a:r>
                        <a:rPr lang="en-US" sz="1400" b="1" dirty="0">
                          <a:solidFill>
                            <a:schemeClr val="bg1"/>
                          </a:solidFill>
                        </a:rPr>
                        <a:t>Controller</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Joint</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Kp</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Ki</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Kd</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PM [°]</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ωc [rad/s]</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Delay margin [ms]</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solidFill>
                      <a:schemeClr val="tx2"/>
                    </a:solidFill>
                  </a:tcPr>
                </a:tc>
              </a:tr>
              <a:tr h="411480">
                <a:tc rowSpan="3">
                  <a:txBody>
                    <a:bodyPr/>
                    <a:lstStyle/>
                    <a:p>
                      <a:pPr algn="ctr" indent="0" marL="0">
                        <a:buNone/>
                      </a:pPr>
                      <a:r>
                        <a:rPr lang="en-US" sz="1400" b="1" dirty="0">
                          <a:solidFill>
                            <a:schemeClr val="tx1"/>
                          </a:solidFill>
                        </a:rPr>
                        <a:t>Thesis PD</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1</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1.592</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0</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0.0989</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66.6</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35</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32.6</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r>
              <a:tr h="411480">
                <a:tc vMerge="1">
                  <a:tcPr/>
                </a:tc>
                <a:tc>
                  <a:txBody>
                    <a:bodyPr/>
                    <a:lstStyle/>
                    <a:p>
                      <a:pPr algn="ctr" indent="0" marL="0">
                        <a:buNone/>
                      </a:pPr>
                      <a:r>
                        <a:rPr lang="en-US" sz="1400" dirty="0">
                          <a:solidFill>
                            <a:schemeClr val="tx1"/>
                          </a:solidFill>
                        </a:rPr>
                        <a:t>2</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1.481</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0</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0.0665</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66.9</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36</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32.7</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r>
              <a:tr h="411480">
                <a:tc vMerge="1">
                  <a:tcPr/>
                </a:tc>
                <a:tc>
                  <a:txBody>
                    <a:bodyPr/>
                    <a:lstStyle/>
                    <a:p>
                      <a:pPr algn="ctr" indent="0" marL="0">
                        <a:buNone/>
                      </a:pPr>
                      <a:r>
                        <a:rPr lang="en-US" sz="1400" dirty="0">
                          <a:solidFill>
                            <a:schemeClr val="tx1"/>
                          </a:solidFill>
                        </a:rPr>
                        <a:t>3</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0.568</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0</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0.0276</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66.8</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35</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32.7</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r>
              <a:tr h="411480">
                <a:tc rowSpan="3">
                  <a:txBody>
                    <a:bodyPr/>
                    <a:lstStyle/>
                    <a:p>
                      <a:pPr algn="ctr" indent="0" marL="0">
                        <a:buNone/>
                      </a:pPr>
                      <a:r>
                        <a:rPr lang="en-US" sz="1400" b="1" dirty="0">
                          <a:solidFill>
                            <a:schemeClr val="tx1"/>
                          </a:solidFill>
                        </a:rPr>
                        <a:t>PSO-PID</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1</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1.062</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3.352</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0.0691</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60.4</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25.0</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42.2</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r>
              <a:tr h="411480">
                <a:tc vMerge="1">
                  <a:tcPr/>
                </a:tc>
                <a:tc>
                  <a:txBody>
                    <a:bodyPr/>
                    <a:lstStyle/>
                    <a:p>
                      <a:pPr algn="ctr" indent="0" marL="0">
                        <a:buNone/>
                      </a:pPr>
                      <a:r>
                        <a:rPr lang="en-US" sz="1400" dirty="0">
                          <a:solidFill>
                            <a:schemeClr val="tx1"/>
                          </a:solidFill>
                        </a:rPr>
                        <a:t>2</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1.100</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6.612</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0.0474</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55.6</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25.4</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38.1</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r>
              <a:tr h="411480">
                <a:tc vMerge="1">
                  <a:tcPr/>
                </a:tc>
                <a:tc>
                  <a:txBody>
                    <a:bodyPr/>
                    <a:lstStyle/>
                    <a:p>
                      <a:pPr algn="ctr" indent="0" marL="0">
                        <a:buNone/>
                      </a:pPr>
                      <a:r>
                        <a:rPr lang="en-US" sz="1400" dirty="0">
                          <a:solidFill>
                            <a:schemeClr val="tx1"/>
                          </a:solidFill>
                        </a:rPr>
                        <a:t>3</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0.408</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1.871</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0.0231</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65.1</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28.0</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40.6</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r>
              <a:tr h="411480">
                <a:tc rowSpan="3">
                  <a:txBody>
                    <a:bodyPr/>
                    <a:lstStyle/>
                    <a:p>
                      <a:pPr algn="ctr" indent="0" marL="0">
                        <a:buNone/>
                      </a:pPr>
                      <a:r>
                        <a:rPr lang="en-US" sz="1400" b="1" dirty="0">
                          <a:solidFill>
                            <a:schemeClr val="tx1"/>
                          </a:solidFill>
                        </a:rPr>
                        <a:t>GA-PID</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1</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0.910</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3.190</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0.0575</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55.8</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21.5</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45.3</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r>
              <a:tr h="411480">
                <a:tc vMerge="1">
                  <a:tcPr/>
                </a:tc>
                <a:tc>
                  <a:txBody>
                    <a:bodyPr/>
                    <a:lstStyle/>
                    <a:p>
                      <a:pPr algn="ctr" indent="0" marL="0">
                        <a:buNone/>
                      </a:pPr>
                      <a:r>
                        <a:rPr lang="en-US" sz="1400" dirty="0">
                          <a:solidFill>
                            <a:schemeClr val="tx1"/>
                          </a:solidFill>
                        </a:rPr>
                        <a:t>2</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1.206</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7.103</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0.0474</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53.4</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26.4</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35.4</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r>
              <a:tr h="411480">
                <a:tc vMerge="1">
                  <a:tcPr/>
                </a:tc>
                <a:tc>
                  <a:txBody>
                    <a:bodyPr/>
                    <a:lstStyle/>
                    <a:p>
                      <a:pPr algn="ctr" indent="0" marL="0">
                        <a:buNone/>
                      </a:pPr>
                      <a:r>
                        <a:rPr lang="en-US" sz="1400" dirty="0">
                          <a:solidFill>
                            <a:schemeClr val="tx1"/>
                          </a:solidFill>
                        </a:rPr>
                        <a:t>3</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0.417</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1.720</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0.0245</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67.3</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29.5</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c>
                  <a:txBody>
                    <a:bodyPr/>
                    <a:lstStyle/>
                    <a:p>
                      <a:pPr algn="ctr" indent="0" marL="0">
                        <a:buNone/>
                      </a:pPr>
                      <a:r>
                        <a:rPr lang="en-US" sz="1400" dirty="0">
                          <a:solidFill>
                            <a:schemeClr val="tx1"/>
                          </a:solidFill>
                        </a:rPr>
                        <a:t>39.8</a:t>
                      </a:r>
                      <a:endParaRPr lang="en-US" sz="1400" dirty="0"/>
                    </a:p>
                  </a:txBody>
                  <a:tcPr marL="91440" marR="91440" marT="45720" marB="45720" anchor="ctr">
                    <a:lnL w="9525" cap="flat" cmpd="sng" algn="ctr">
                      <a:solidFill>
                        <a:srgbClr val="D5DBD9"/>
                      </a:solidFill>
                      <a:prstDash val="solid"/>
                      <a:round/>
                      <a:headEnd type="none" w="med" len="med"/>
                      <a:tailEnd type="none" w="med" len="med"/>
                    </a:lnL>
                    <a:lnR w="9525" cap="flat" cmpd="sng" algn="ctr">
                      <a:solidFill>
                        <a:srgbClr val="D5DBD9"/>
                      </a:solidFill>
                      <a:prstDash val="solid"/>
                      <a:round/>
                      <a:headEnd type="none" w="med" len="med"/>
                      <a:tailEnd type="none" w="med" len="med"/>
                    </a:lnR>
                    <a:lnT w="9525" cap="flat" cmpd="sng" algn="ctr">
                      <a:solidFill>
                        <a:srgbClr val="D5DBD9"/>
                      </a:solidFill>
                      <a:prstDash val="solid"/>
                      <a:round/>
                      <a:headEnd type="none" w="med" len="med"/>
                      <a:tailEnd type="none" w="med" len="med"/>
                    </a:lnT>
                    <a:lnB w="9525" cap="flat" cmpd="sng" algn="ctr">
                      <a:solidFill>
                        <a:srgbClr val="D5DB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600" b="1" dirty="0">
                <a:solidFill>
                  <a:schemeClr val="tx1"/>
                </a:solidFill>
              </a:rPr>
              <a:t>Step response, local 1 kHz loop</a:t>
            </a:r>
            <a:endParaRPr lang="en-US" sz="36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6"/>
                </a:solidFill>
              </a:rPr>
              <a:t>Only the integral controllers reach the 17.2° reference; the thesis PD stalls 3.6-7.8° short</a:t>
            </a:r>
            <a:endParaRPr lang="en-US" sz="1600" dirty="0"/>
          </a:p>
        </p:txBody>
      </p:sp>
      <p:pic>
        <p:nvPicPr>
          <p:cNvPr id="4" name="figure-189" descr="17.2 degree step responses of all controllers without network delay">    </p:cNvPr>
          <p:cNvPicPr>
            <a:picLocks noChangeAspect="1"/>
          </p:cNvPicPr>
          <p:nvPr/>
        </p:nvPicPr>
        <p:blipFill>
          <a:blip r:embed="rId1"/>
          <a:stretch>
            <a:fillRect/>
          </a:stretch>
        </p:blipFill>
        <p:spPr>
          <a:xfrm>
            <a:off x="548640" y="1600200"/>
            <a:ext cx="11094415" cy="3106436"/>
          </a:xfrm>
          <a:prstGeom prst="rect">
            <a:avLst/>
          </a:prstGeom>
        </p:spPr>
      </p:pic>
      <p:sp>
        <p:nvSpPr>
          <p:cNvPr id="5" name="card-190"/>
          <p:cNvSpPr/>
          <p:nvPr/>
        </p:nvSpPr>
        <p:spPr>
          <a:xfrm>
            <a:off x="548640" y="4889516"/>
            <a:ext cx="2567864" cy="1328404"/>
          </a:xfrm>
          <a:prstGeom prst="roundRect">
            <a:avLst>
              <a:gd name="adj" fmla="val 5507"/>
            </a:avLst>
          </a:prstGeom>
          <a:solidFill>
            <a:schemeClr val="bg2"/>
          </a:solidFill>
          <a:ln/>
        </p:spPr>
      </p:sp>
      <p:sp>
        <p:nvSpPr>
          <p:cNvPr id="6" name="dot-191"/>
          <p:cNvSpPr/>
          <p:nvPr/>
        </p:nvSpPr>
        <p:spPr>
          <a:xfrm>
            <a:off x="731520" y="5108972"/>
            <a:ext cx="164592" cy="164592"/>
          </a:xfrm>
          <a:prstGeom prst="ellipse">
            <a:avLst/>
          </a:prstGeom>
          <a:solidFill>
            <a:schemeClr val="accent3"/>
          </a:solidFill>
          <a:ln/>
        </p:spPr>
      </p:sp>
      <p:sp>
        <p:nvSpPr>
          <p:cNvPr id="7" name="chip-label-192"/>
          <p:cNvSpPr txBox="1"/>
          <p:nvPr/>
        </p:nvSpPr>
        <p:spPr>
          <a:xfrm>
            <a:off x="1005840" y="5026676"/>
            <a:ext cx="1927784" cy="329184"/>
          </a:xfrm>
          <a:prstGeom prst="rect">
            <a:avLst/>
          </a:prstGeom>
          <a:noFill/>
          <a:ln/>
        </p:spPr>
        <p:txBody>
          <a:bodyPr wrap="square" lIns="0" tIns="0" rIns="0" bIns="0" rtlCol="0" anchor="ctr"/>
          <a:lstStyle/>
          <a:p>
            <a:pPr indent="0" marL="0">
              <a:buNone/>
            </a:pPr>
            <a:r>
              <a:rPr lang="en-US" sz="1400" b="1" dirty="0">
                <a:solidFill>
                  <a:schemeClr val="tx1"/>
                </a:solidFill>
              </a:rPr>
              <a:t>Thesis PD</a:t>
            </a:r>
            <a:endParaRPr lang="en-US" sz="1400" dirty="0"/>
          </a:p>
        </p:txBody>
      </p:sp>
      <p:sp>
        <p:nvSpPr>
          <p:cNvPr id="8" name="chip-value-193"/>
          <p:cNvSpPr txBox="1"/>
          <p:nvPr/>
        </p:nvSpPr>
        <p:spPr>
          <a:xfrm>
            <a:off x="731520" y="5365004"/>
            <a:ext cx="2202104" cy="761476"/>
          </a:xfrm>
          <a:prstGeom prst="rect">
            <a:avLst/>
          </a:prstGeom>
          <a:noFill/>
          <a:ln/>
        </p:spPr>
        <p:txBody>
          <a:bodyPr wrap="square" lIns="0" tIns="0" rIns="0" bIns="0" rtlCol="0" anchor="ctr"/>
          <a:lstStyle/>
          <a:p>
            <a:pPr indent="0" marL="0">
              <a:buNone/>
            </a:pPr>
            <a:r>
              <a:rPr lang="en-US" sz="1800" b="1" dirty="0">
                <a:solidFill>
                  <a:schemeClr val="tx1"/>
                </a:solidFill>
              </a:rPr>
              <a:t>Never settles</a:t>
            </a:r>
            <a:endParaRPr lang="en-US" sz="1800" dirty="0"/>
          </a:p>
        </p:txBody>
      </p:sp>
      <p:sp>
        <p:nvSpPr>
          <p:cNvPr id="9" name="card-194"/>
          <p:cNvSpPr/>
          <p:nvPr/>
        </p:nvSpPr>
        <p:spPr>
          <a:xfrm>
            <a:off x="3390824" y="4889516"/>
            <a:ext cx="2567864" cy="1328404"/>
          </a:xfrm>
          <a:prstGeom prst="roundRect">
            <a:avLst>
              <a:gd name="adj" fmla="val 5507"/>
            </a:avLst>
          </a:prstGeom>
          <a:solidFill>
            <a:schemeClr val="bg2"/>
          </a:solidFill>
          <a:ln/>
        </p:spPr>
      </p:sp>
      <p:sp>
        <p:nvSpPr>
          <p:cNvPr id="10" name="dot-195"/>
          <p:cNvSpPr/>
          <p:nvPr/>
        </p:nvSpPr>
        <p:spPr>
          <a:xfrm>
            <a:off x="3573704" y="5108972"/>
            <a:ext cx="164592" cy="164592"/>
          </a:xfrm>
          <a:prstGeom prst="ellipse">
            <a:avLst/>
          </a:prstGeom>
          <a:solidFill>
            <a:schemeClr val="accent4"/>
          </a:solidFill>
          <a:ln/>
        </p:spPr>
      </p:sp>
      <p:sp>
        <p:nvSpPr>
          <p:cNvPr id="11" name="chip-label-196"/>
          <p:cNvSpPr txBox="1"/>
          <p:nvPr/>
        </p:nvSpPr>
        <p:spPr>
          <a:xfrm>
            <a:off x="3848024" y="5026676"/>
            <a:ext cx="1927784" cy="329184"/>
          </a:xfrm>
          <a:prstGeom prst="rect">
            <a:avLst/>
          </a:prstGeom>
          <a:noFill/>
          <a:ln/>
        </p:spPr>
        <p:txBody>
          <a:bodyPr wrap="square" lIns="0" tIns="0" rIns="0" bIns="0" rtlCol="0" anchor="ctr"/>
          <a:lstStyle/>
          <a:p>
            <a:pPr indent="0" marL="0">
              <a:buNone/>
            </a:pPr>
            <a:r>
              <a:rPr lang="en-US" sz="1400" b="1" dirty="0">
                <a:solidFill>
                  <a:schemeClr val="tx1"/>
                </a:solidFill>
              </a:rPr>
              <a:t>QUARC PID (J1)</a:t>
            </a:r>
            <a:endParaRPr lang="en-US" sz="1400" dirty="0"/>
          </a:p>
        </p:txBody>
      </p:sp>
      <p:sp>
        <p:nvSpPr>
          <p:cNvPr id="12" name="chip-value-197"/>
          <p:cNvSpPr txBox="1"/>
          <p:nvPr/>
        </p:nvSpPr>
        <p:spPr>
          <a:xfrm>
            <a:off x="3573704" y="5365004"/>
            <a:ext cx="2202104" cy="761476"/>
          </a:xfrm>
          <a:prstGeom prst="rect">
            <a:avLst/>
          </a:prstGeom>
          <a:noFill/>
          <a:ln/>
        </p:spPr>
        <p:txBody>
          <a:bodyPr wrap="square" lIns="0" tIns="0" rIns="0" bIns="0" rtlCol="0" anchor="ctr"/>
          <a:lstStyle/>
          <a:p>
            <a:pPr indent="0" marL="0">
              <a:buNone/>
            </a:pPr>
            <a:r>
              <a:rPr lang="en-US" sz="1800" b="1" dirty="0">
                <a:solidFill>
                  <a:schemeClr val="tx1"/>
                </a:solidFill>
              </a:rPr>
              <a:t>1.1° error, 3 % OS</a:t>
            </a:r>
            <a:endParaRPr lang="en-US" sz="1800" dirty="0"/>
          </a:p>
        </p:txBody>
      </p:sp>
      <p:sp>
        <p:nvSpPr>
          <p:cNvPr id="13" name="card-198"/>
          <p:cNvSpPr/>
          <p:nvPr/>
        </p:nvSpPr>
        <p:spPr>
          <a:xfrm>
            <a:off x="6233008" y="4889516"/>
            <a:ext cx="2567864" cy="1328404"/>
          </a:xfrm>
          <a:prstGeom prst="roundRect">
            <a:avLst>
              <a:gd name="adj" fmla="val 5507"/>
            </a:avLst>
          </a:prstGeom>
          <a:solidFill>
            <a:schemeClr val="bg2"/>
          </a:solidFill>
          <a:ln/>
        </p:spPr>
      </p:sp>
      <p:sp>
        <p:nvSpPr>
          <p:cNvPr id="14" name="dot-199"/>
          <p:cNvSpPr/>
          <p:nvPr/>
        </p:nvSpPr>
        <p:spPr>
          <a:xfrm>
            <a:off x="6415888" y="5108972"/>
            <a:ext cx="164592" cy="164592"/>
          </a:xfrm>
          <a:prstGeom prst="ellipse">
            <a:avLst/>
          </a:prstGeom>
          <a:solidFill>
            <a:schemeClr val="accent1"/>
          </a:solidFill>
          <a:ln/>
        </p:spPr>
      </p:sp>
      <p:sp>
        <p:nvSpPr>
          <p:cNvPr id="15" name="chip-label-200"/>
          <p:cNvSpPr txBox="1"/>
          <p:nvPr/>
        </p:nvSpPr>
        <p:spPr>
          <a:xfrm>
            <a:off x="6690208" y="5026676"/>
            <a:ext cx="1927784" cy="329184"/>
          </a:xfrm>
          <a:prstGeom prst="rect">
            <a:avLst/>
          </a:prstGeom>
          <a:noFill/>
          <a:ln/>
        </p:spPr>
        <p:txBody>
          <a:bodyPr wrap="square" lIns="0" tIns="0" rIns="0" bIns="0" rtlCol="0" anchor="ctr"/>
          <a:lstStyle/>
          <a:p>
            <a:pPr indent="0" marL="0">
              <a:buNone/>
            </a:pPr>
            <a:r>
              <a:rPr lang="en-US" sz="1400" b="1" dirty="0">
                <a:solidFill>
                  <a:schemeClr val="tx1"/>
                </a:solidFill>
              </a:rPr>
              <a:t>PSO-PID</a:t>
            </a:r>
            <a:endParaRPr lang="en-US" sz="1400" dirty="0"/>
          </a:p>
        </p:txBody>
      </p:sp>
      <p:sp>
        <p:nvSpPr>
          <p:cNvPr id="16" name="chip-value-201"/>
          <p:cNvSpPr txBox="1"/>
          <p:nvPr/>
        </p:nvSpPr>
        <p:spPr>
          <a:xfrm>
            <a:off x="6415888" y="5365004"/>
            <a:ext cx="2202104" cy="761476"/>
          </a:xfrm>
          <a:prstGeom prst="rect">
            <a:avLst/>
          </a:prstGeom>
          <a:noFill/>
          <a:ln/>
        </p:spPr>
        <p:txBody>
          <a:bodyPr wrap="square" lIns="0" tIns="0" rIns="0" bIns="0" rtlCol="0" anchor="ctr"/>
          <a:lstStyle/>
          <a:p>
            <a:pPr indent="0" marL="0">
              <a:buNone/>
            </a:pPr>
            <a:r>
              <a:rPr lang="en-US" sz="1800" b="1" dirty="0">
                <a:solidFill>
                  <a:schemeClr val="tx1"/>
                </a:solidFill>
              </a:rPr>
              <a:t>Settles in 231-244 ms</a:t>
            </a:r>
            <a:endParaRPr lang="en-US" sz="1800" dirty="0"/>
          </a:p>
        </p:txBody>
      </p:sp>
      <p:sp>
        <p:nvSpPr>
          <p:cNvPr id="17" name="card-202"/>
          <p:cNvSpPr/>
          <p:nvPr/>
        </p:nvSpPr>
        <p:spPr>
          <a:xfrm>
            <a:off x="9075191" y="4889516"/>
            <a:ext cx="2567864" cy="1328404"/>
          </a:xfrm>
          <a:prstGeom prst="roundRect">
            <a:avLst>
              <a:gd name="adj" fmla="val 5507"/>
            </a:avLst>
          </a:prstGeom>
          <a:solidFill>
            <a:schemeClr val="bg2"/>
          </a:solidFill>
          <a:ln/>
        </p:spPr>
      </p:sp>
      <p:sp>
        <p:nvSpPr>
          <p:cNvPr id="18" name="dot-203"/>
          <p:cNvSpPr/>
          <p:nvPr/>
        </p:nvSpPr>
        <p:spPr>
          <a:xfrm>
            <a:off x="9258071" y="5108972"/>
            <a:ext cx="164592" cy="164592"/>
          </a:xfrm>
          <a:prstGeom prst="ellipse">
            <a:avLst/>
          </a:prstGeom>
          <a:solidFill>
            <a:schemeClr val="accent2"/>
          </a:solidFill>
          <a:ln/>
        </p:spPr>
      </p:sp>
      <p:sp>
        <p:nvSpPr>
          <p:cNvPr id="19" name="chip-label-204"/>
          <p:cNvSpPr txBox="1"/>
          <p:nvPr/>
        </p:nvSpPr>
        <p:spPr>
          <a:xfrm>
            <a:off x="9532391" y="5026676"/>
            <a:ext cx="1927784" cy="329184"/>
          </a:xfrm>
          <a:prstGeom prst="rect">
            <a:avLst/>
          </a:prstGeom>
          <a:noFill/>
          <a:ln/>
        </p:spPr>
        <p:txBody>
          <a:bodyPr wrap="square" lIns="0" tIns="0" rIns="0" bIns="0" rtlCol="0" anchor="ctr"/>
          <a:lstStyle/>
          <a:p>
            <a:pPr indent="0" marL="0">
              <a:buNone/>
            </a:pPr>
            <a:r>
              <a:rPr lang="en-US" sz="1400" b="1" dirty="0">
                <a:solidFill>
                  <a:schemeClr val="tx1"/>
                </a:solidFill>
              </a:rPr>
              <a:t>GA-PID</a:t>
            </a:r>
            <a:endParaRPr lang="en-US" sz="1400" dirty="0"/>
          </a:p>
        </p:txBody>
      </p:sp>
      <p:sp>
        <p:nvSpPr>
          <p:cNvPr id="20" name="chip-value-205"/>
          <p:cNvSpPr txBox="1"/>
          <p:nvPr/>
        </p:nvSpPr>
        <p:spPr>
          <a:xfrm>
            <a:off x="9258071" y="5365004"/>
            <a:ext cx="2202104" cy="761476"/>
          </a:xfrm>
          <a:prstGeom prst="rect">
            <a:avLst/>
          </a:prstGeom>
          <a:noFill/>
          <a:ln/>
        </p:spPr>
        <p:txBody>
          <a:bodyPr wrap="square" lIns="0" tIns="0" rIns="0" bIns="0" rtlCol="0" anchor="ctr"/>
          <a:lstStyle/>
          <a:p>
            <a:pPr indent="0" marL="0">
              <a:buNone/>
            </a:pPr>
            <a:r>
              <a:rPr lang="en-US" sz="1800" b="1" dirty="0">
                <a:solidFill>
                  <a:schemeClr val="tx1"/>
                </a:solidFill>
              </a:rPr>
              <a:t>Settles in 217-305 ms</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600" b="1" dirty="0">
                <a:solidFill>
                  <a:schemeClr val="tx1"/>
                </a:solidFill>
              </a:rPr>
              <a:t>Step response over a 20 ms UDP loop</a:t>
            </a:r>
            <a:endParaRPr lang="en-US" sz="36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6"/>
                </a:solidFill>
              </a:rPr>
              <a:t>With one UDP period of delay the manual QUARC gains ring at 49.5 % overshoot; PSO stays below 2 %</a:t>
            </a:r>
            <a:endParaRPr lang="en-US" sz="1600" dirty="0"/>
          </a:p>
        </p:txBody>
      </p:sp>
      <p:pic>
        <p:nvPicPr>
          <p:cNvPr id="4" name="figure-206" descr="17.2 degree step responses of all controllers with a 20 ms feedback delay">    </p:cNvPr>
          <p:cNvPicPr>
            <a:picLocks noChangeAspect="1"/>
          </p:cNvPicPr>
          <p:nvPr/>
        </p:nvPicPr>
        <p:blipFill>
          <a:blip r:embed="rId1"/>
          <a:stretch>
            <a:fillRect/>
          </a:stretch>
        </p:blipFill>
        <p:spPr>
          <a:xfrm>
            <a:off x="548640" y="1600200"/>
            <a:ext cx="11094415" cy="3106436"/>
          </a:xfrm>
          <a:prstGeom prst="rect">
            <a:avLst/>
          </a:prstGeom>
        </p:spPr>
      </p:pic>
      <p:sp>
        <p:nvSpPr>
          <p:cNvPr id="5" name="card-207"/>
          <p:cNvSpPr/>
          <p:nvPr/>
        </p:nvSpPr>
        <p:spPr>
          <a:xfrm>
            <a:off x="548640" y="4889516"/>
            <a:ext cx="2567864" cy="1328404"/>
          </a:xfrm>
          <a:prstGeom prst="roundRect">
            <a:avLst>
              <a:gd name="adj" fmla="val 5507"/>
            </a:avLst>
          </a:prstGeom>
          <a:solidFill>
            <a:schemeClr val="bg2"/>
          </a:solidFill>
          <a:ln/>
        </p:spPr>
      </p:sp>
      <p:sp>
        <p:nvSpPr>
          <p:cNvPr id="6" name="dot-208"/>
          <p:cNvSpPr/>
          <p:nvPr/>
        </p:nvSpPr>
        <p:spPr>
          <a:xfrm>
            <a:off x="731520" y="5108972"/>
            <a:ext cx="164592" cy="164592"/>
          </a:xfrm>
          <a:prstGeom prst="ellipse">
            <a:avLst/>
          </a:prstGeom>
          <a:solidFill>
            <a:schemeClr val="accent3"/>
          </a:solidFill>
          <a:ln/>
        </p:spPr>
      </p:sp>
      <p:sp>
        <p:nvSpPr>
          <p:cNvPr id="7" name="chip-label-209"/>
          <p:cNvSpPr txBox="1"/>
          <p:nvPr/>
        </p:nvSpPr>
        <p:spPr>
          <a:xfrm>
            <a:off x="1005840" y="5026676"/>
            <a:ext cx="1927784" cy="329184"/>
          </a:xfrm>
          <a:prstGeom prst="rect">
            <a:avLst/>
          </a:prstGeom>
          <a:noFill/>
          <a:ln/>
        </p:spPr>
        <p:txBody>
          <a:bodyPr wrap="square" lIns="0" tIns="0" rIns="0" bIns="0" rtlCol="0" anchor="ctr"/>
          <a:lstStyle/>
          <a:p>
            <a:pPr indent="0" marL="0">
              <a:buNone/>
            </a:pPr>
            <a:r>
              <a:rPr lang="en-US" sz="1400" b="1" dirty="0">
                <a:solidFill>
                  <a:schemeClr val="tx1"/>
                </a:solidFill>
              </a:rPr>
              <a:t>Thesis PD</a:t>
            </a:r>
            <a:endParaRPr lang="en-US" sz="1400" dirty="0"/>
          </a:p>
        </p:txBody>
      </p:sp>
      <p:sp>
        <p:nvSpPr>
          <p:cNvPr id="8" name="chip-value-210"/>
          <p:cNvSpPr txBox="1"/>
          <p:nvPr/>
        </p:nvSpPr>
        <p:spPr>
          <a:xfrm>
            <a:off x="731520" y="5365004"/>
            <a:ext cx="2202104" cy="761476"/>
          </a:xfrm>
          <a:prstGeom prst="rect">
            <a:avLst/>
          </a:prstGeom>
          <a:noFill/>
          <a:ln/>
        </p:spPr>
        <p:txBody>
          <a:bodyPr wrap="square" lIns="0" tIns="0" rIns="0" bIns="0" rtlCol="0" anchor="ctr"/>
          <a:lstStyle/>
          <a:p>
            <a:pPr indent="0" marL="0">
              <a:buNone/>
            </a:pPr>
            <a:r>
              <a:rPr lang="en-US" sz="1800" b="1" dirty="0">
                <a:solidFill>
                  <a:schemeClr val="tx1"/>
                </a:solidFill>
              </a:rPr>
              <a:t>0 % OS, same sag</a:t>
            </a:r>
            <a:endParaRPr lang="en-US" sz="1800" dirty="0"/>
          </a:p>
        </p:txBody>
      </p:sp>
      <p:sp>
        <p:nvSpPr>
          <p:cNvPr id="9" name="card-211"/>
          <p:cNvSpPr/>
          <p:nvPr/>
        </p:nvSpPr>
        <p:spPr>
          <a:xfrm>
            <a:off x="3390824" y="4889516"/>
            <a:ext cx="2567864" cy="1328404"/>
          </a:xfrm>
          <a:prstGeom prst="roundRect">
            <a:avLst>
              <a:gd name="adj" fmla="val 5507"/>
            </a:avLst>
          </a:prstGeom>
          <a:solidFill>
            <a:schemeClr val="bg2"/>
          </a:solidFill>
          <a:ln/>
        </p:spPr>
      </p:sp>
      <p:sp>
        <p:nvSpPr>
          <p:cNvPr id="10" name="dot-212"/>
          <p:cNvSpPr/>
          <p:nvPr/>
        </p:nvSpPr>
        <p:spPr>
          <a:xfrm>
            <a:off x="3573704" y="5108972"/>
            <a:ext cx="164592" cy="164592"/>
          </a:xfrm>
          <a:prstGeom prst="ellipse">
            <a:avLst/>
          </a:prstGeom>
          <a:solidFill>
            <a:schemeClr val="accent4"/>
          </a:solidFill>
          <a:ln/>
        </p:spPr>
      </p:sp>
      <p:sp>
        <p:nvSpPr>
          <p:cNvPr id="11" name="chip-label-213"/>
          <p:cNvSpPr txBox="1"/>
          <p:nvPr/>
        </p:nvSpPr>
        <p:spPr>
          <a:xfrm>
            <a:off x="3848024" y="5026676"/>
            <a:ext cx="1927784" cy="329184"/>
          </a:xfrm>
          <a:prstGeom prst="rect">
            <a:avLst/>
          </a:prstGeom>
          <a:noFill/>
          <a:ln/>
        </p:spPr>
        <p:txBody>
          <a:bodyPr wrap="square" lIns="0" tIns="0" rIns="0" bIns="0" rtlCol="0" anchor="ctr"/>
          <a:lstStyle/>
          <a:p>
            <a:pPr indent="0" marL="0">
              <a:buNone/>
            </a:pPr>
            <a:r>
              <a:rPr lang="en-US" sz="1400" b="1" dirty="0">
                <a:solidFill>
                  <a:schemeClr val="tx1"/>
                </a:solidFill>
              </a:rPr>
              <a:t>QUARC PID (J1)</a:t>
            </a:r>
            <a:endParaRPr lang="en-US" sz="1400" dirty="0"/>
          </a:p>
        </p:txBody>
      </p:sp>
      <p:sp>
        <p:nvSpPr>
          <p:cNvPr id="12" name="chip-value-214"/>
          <p:cNvSpPr txBox="1"/>
          <p:nvPr/>
        </p:nvSpPr>
        <p:spPr>
          <a:xfrm>
            <a:off x="3573704" y="5365004"/>
            <a:ext cx="2202104" cy="761476"/>
          </a:xfrm>
          <a:prstGeom prst="rect">
            <a:avLst/>
          </a:prstGeom>
          <a:noFill/>
          <a:ln/>
        </p:spPr>
        <p:txBody>
          <a:bodyPr wrap="square" lIns="0" tIns="0" rIns="0" bIns="0" rtlCol="0" anchor="ctr"/>
          <a:lstStyle/>
          <a:p>
            <a:pPr indent="0" marL="0">
              <a:buNone/>
            </a:pPr>
            <a:r>
              <a:rPr lang="en-US" sz="1800" b="1" dirty="0">
                <a:solidFill>
                  <a:schemeClr val="tx1"/>
                </a:solidFill>
              </a:rPr>
              <a:t>49.5 % overshoot</a:t>
            </a:r>
            <a:endParaRPr lang="en-US" sz="1800" dirty="0"/>
          </a:p>
        </p:txBody>
      </p:sp>
      <p:sp>
        <p:nvSpPr>
          <p:cNvPr id="13" name="card-215"/>
          <p:cNvSpPr/>
          <p:nvPr/>
        </p:nvSpPr>
        <p:spPr>
          <a:xfrm>
            <a:off x="6233008" y="4889516"/>
            <a:ext cx="2567864" cy="1328404"/>
          </a:xfrm>
          <a:prstGeom prst="roundRect">
            <a:avLst>
              <a:gd name="adj" fmla="val 5507"/>
            </a:avLst>
          </a:prstGeom>
          <a:solidFill>
            <a:schemeClr val="bg2"/>
          </a:solidFill>
          <a:ln/>
        </p:spPr>
      </p:sp>
      <p:sp>
        <p:nvSpPr>
          <p:cNvPr id="14" name="dot-216"/>
          <p:cNvSpPr/>
          <p:nvPr/>
        </p:nvSpPr>
        <p:spPr>
          <a:xfrm>
            <a:off x="6415888" y="5108972"/>
            <a:ext cx="164592" cy="164592"/>
          </a:xfrm>
          <a:prstGeom prst="ellipse">
            <a:avLst/>
          </a:prstGeom>
          <a:solidFill>
            <a:schemeClr val="accent1"/>
          </a:solidFill>
          <a:ln/>
        </p:spPr>
      </p:sp>
      <p:sp>
        <p:nvSpPr>
          <p:cNvPr id="15" name="chip-label-217"/>
          <p:cNvSpPr txBox="1"/>
          <p:nvPr/>
        </p:nvSpPr>
        <p:spPr>
          <a:xfrm>
            <a:off x="6690208" y="5026676"/>
            <a:ext cx="1927784" cy="329184"/>
          </a:xfrm>
          <a:prstGeom prst="rect">
            <a:avLst/>
          </a:prstGeom>
          <a:noFill/>
          <a:ln/>
        </p:spPr>
        <p:txBody>
          <a:bodyPr wrap="square" lIns="0" tIns="0" rIns="0" bIns="0" rtlCol="0" anchor="ctr"/>
          <a:lstStyle/>
          <a:p>
            <a:pPr indent="0" marL="0">
              <a:buNone/>
            </a:pPr>
            <a:r>
              <a:rPr lang="en-US" sz="1400" b="1" dirty="0">
                <a:solidFill>
                  <a:schemeClr val="tx1"/>
                </a:solidFill>
              </a:rPr>
              <a:t>PSO-PID</a:t>
            </a:r>
            <a:endParaRPr lang="en-US" sz="1400" dirty="0"/>
          </a:p>
        </p:txBody>
      </p:sp>
      <p:sp>
        <p:nvSpPr>
          <p:cNvPr id="16" name="chip-value-218"/>
          <p:cNvSpPr txBox="1"/>
          <p:nvPr/>
        </p:nvSpPr>
        <p:spPr>
          <a:xfrm>
            <a:off x="6415888" y="5365004"/>
            <a:ext cx="2202104" cy="761476"/>
          </a:xfrm>
          <a:prstGeom prst="rect">
            <a:avLst/>
          </a:prstGeom>
          <a:noFill/>
          <a:ln/>
        </p:spPr>
        <p:txBody>
          <a:bodyPr wrap="square" lIns="0" tIns="0" rIns="0" bIns="0" rtlCol="0" anchor="ctr"/>
          <a:lstStyle/>
          <a:p>
            <a:pPr indent="0" marL="0">
              <a:buNone/>
            </a:pPr>
            <a:r>
              <a:rPr lang="en-US" sz="1800" b="1" dirty="0">
                <a:solidFill>
                  <a:schemeClr val="tx1"/>
                </a:solidFill>
              </a:rPr>
              <a:t>0-1.8 % overshoot</a:t>
            </a:r>
            <a:endParaRPr lang="en-US" sz="1800" dirty="0"/>
          </a:p>
        </p:txBody>
      </p:sp>
      <p:sp>
        <p:nvSpPr>
          <p:cNvPr id="17" name="card-219"/>
          <p:cNvSpPr/>
          <p:nvPr/>
        </p:nvSpPr>
        <p:spPr>
          <a:xfrm>
            <a:off x="9075191" y="4889516"/>
            <a:ext cx="2567864" cy="1328404"/>
          </a:xfrm>
          <a:prstGeom prst="roundRect">
            <a:avLst>
              <a:gd name="adj" fmla="val 5507"/>
            </a:avLst>
          </a:prstGeom>
          <a:solidFill>
            <a:schemeClr val="bg2"/>
          </a:solidFill>
          <a:ln/>
        </p:spPr>
      </p:sp>
      <p:sp>
        <p:nvSpPr>
          <p:cNvPr id="18" name="dot-220"/>
          <p:cNvSpPr/>
          <p:nvPr/>
        </p:nvSpPr>
        <p:spPr>
          <a:xfrm>
            <a:off x="9258071" y="5108972"/>
            <a:ext cx="164592" cy="164592"/>
          </a:xfrm>
          <a:prstGeom prst="ellipse">
            <a:avLst/>
          </a:prstGeom>
          <a:solidFill>
            <a:schemeClr val="accent2"/>
          </a:solidFill>
          <a:ln/>
        </p:spPr>
      </p:sp>
      <p:sp>
        <p:nvSpPr>
          <p:cNvPr id="19" name="chip-label-221"/>
          <p:cNvSpPr txBox="1"/>
          <p:nvPr/>
        </p:nvSpPr>
        <p:spPr>
          <a:xfrm>
            <a:off x="9532391" y="5026676"/>
            <a:ext cx="1927784" cy="329184"/>
          </a:xfrm>
          <a:prstGeom prst="rect">
            <a:avLst/>
          </a:prstGeom>
          <a:noFill/>
          <a:ln/>
        </p:spPr>
        <p:txBody>
          <a:bodyPr wrap="square" lIns="0" tIns="0" rIns="0" bIns="0" rtlCol="0" anchor="ctr"/>
          <a:lstStyle/>
          <a:p>
            <a:pPr indent="0" marL="0">
              <a:buNone/>
            </a:pPr>
            <a:r>
              <a:rPr lang="en-US" sz="1400" b="1" dirty="0">
                <a:solidFill>
                  <a:schemeClr val="tx1"/>
                </a:solidFill>
              </a:rPr>
              <a:t>GA-PID</a:t>
            </a:r>
            <a:endParaRPr lang="en-US" sz="1400" dirty="0"/>
          </a:p>
        </p:txBody>
      </p:sp>
      <p:sp>
        <p:nvSpPr>
          <p:cNvPr id="20" name="chip-value-222"/>
          <p:cNvSpPr txBox="1"/>
          <p:nvPr/>
        </p:nvSpPr>
        <p:spPr>
          <a:xfrm>
            <a:off x="9258071" y="5365004"/>
            <a:ext cx="2202104" cy="761476"/>
          </a:xfrm>
          <a:prstGeom prst="rect">
            <a:avLst/>
          </a:prstGeom>
          <a:noFill/>
          <a:ln/>
        </p:spPr>
        <p:txBody>
          <a:bodyPr wrap="square" lIns="0" tIns="0" rIns="0" bIns="0" rtlCol="0" anchor="ctr"/>
          <a:lstStyle/>
          <a:p>
            <a:pPr indent="0" marL="0">
              <a:buNone/>
            </a:pPr>
            <a:r>
              <a:rPr lang="en-US" sz="1800" b="1" dirty="0">
                <a:solidFill>
                  <a:schemeClr val="tx1"/>
                </a:solidFill>
              </a:rPr>
              <a:t>1.8-4.1 % overshoot</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600" b="1" dirty="0">
                <a:solidFill>
                  <a:schemeClr val="tx1"/>
                </a:solidFill>
              </a:rPr>
              <a:t>Steady-state error</a:t>
            </a:r>
            <a:endParaRPr lang="en-US" sz="36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6"/>
                </a:solidFill>
              </a:rPr>
              <a:t>Integral action cuts the steady-state error by one to two orders of magnitude</a:t>
            </a:r>
            <a:endParaRPr lang="en-US" sz="1600" dirty="0"/>
          </a:p>
        </p:txBody>
      </p:sp>
      <p:graphicFrame>
        <p:nvGraphicFramePr>
          <p:cNvPr id="4" name="ess-chart" descr="Clustered column chart of steady-state error per joint for thesis PD, PSO-PID and GA-PID"/>
          <p:cNvGraphicFramePr/>
          <p:nvPr/>
        </p:nvGraphicFramePr>
        <p:xfrm>
          <a:off x="548640" y="1691640"/>
          <a:ext cx="7315200" cy="4526280"/>
        </p:xfrm>
        <a:graphic xmlns:a="http://schemas.openxmlformats.org/drawingml/2006/main">
          <a:graphicData uri="http://schemas.openxmlformats.org/drawingml/2006/chart">
            <c:chart xmlns:c="http://schemas.openxmlformats.org/drawingml/2006/chart" r:id="rId1"/>
          </a:graphicData>
        </a:graphic>
      </p:graphicFrame>
      <p:sp>
        <p:nvSpPr>
          <p:cNvPr id="5" name="card-223"/>
          <p:cNvSpPr/>
          <p:nvPr/>
        </p:nvSpPr>
        <p:spPr>
          <a:xfrm>
            <a:off x="8183880" y="1783080"/>
            <a:ext cx="3459175" cy="1325880"/>
          </a:xfrm>
          <a:prstGeom prst="roundRect">
            <a:avLst>
              <a:gd name="adj" fmla="val 5517"/>
            </a:avLst>
          </a:prstGeom>
          <a:solidFill>
            <a:schemeClr val="bg2"/>
          </a:solidFill>
          <a:ln/>
        </p:spPr>
      </p:sp>
      <p:sp>
        <p:nvSpPr>
          <p:cNvPr id="6" name="dot-224"/>
          <p:cNvSpPr/>
          <p:nvPr/>
        </p:nvSpPr>
        <p:spPr>
          <a:xfrm>
            <a:off x="8366760" y="2029968"/>
            <a:ext cx="164592" cy="164592"/>
          </a:xfrm>
          <a:prstGeom prst="ellipse">
            <a:avLst/>
          </a:prstGeom>
          <a:solidFill>
            <a:schemeClr val="accent4"/>
          </a:solidFill>
          <a:ln/>
        </p:spPr>
      </p:sp>
      <p:sp>
        <p:nvSpPr>
          <p:cNvPr id="7" name="stat-label-225"/>
          <p:cNvSpPr txBox="1"/>
          <p:nvPr/>
        </p:nvSpPr>
        <p:spPr>
          <a:xfrm>
            <a:off x="8641080" y="1965960"/>
            <a:ext cx="2819095" cy="292608"/>
          </a:xfrm>
          <a:prstGeom prst="rect">
            <a:avLst/>
          </a:prstGeom>
          <a:noFill/>
          <a:ln/>
        </p:spPr>
        <p:txBody>
          <a:bodyPr wrap="square" lIns="0" tIns="0" rIns="0" bIns="0" rtlCol="0" anchor="ctr"/>
          <a:lstStyle/>
          <a:p>
            <a:pPr indent="0" marL="0">
              <a:buNone/>
            </a:pPr>
            <a:r>
              <a:rPr lang="en-US" sz="1400" b="1" dirty="0">
                <a:solidFill>
                  <a:schemeClr val="tx1"/>
                </a:solidFill>
              </a:rPr>
              <a:t>QUARC PID, joint 1</a:t>
            </a:r>
            <a:endParaRPr lang="en-US" sz="1400" dirty="0"/>
          </a:p>
        </p:txBody>
      </p:sp>
      <p:sp>
        <p:nvSpPr>
          <p:cNvPr id="8" name="stat-value-226"/>
          <p:cNvSpPr txBox="1"/>
          <p:nvPr/>
        </p:nvSpPr>
        <p:spPr>
          <a:xfrm>
            <a:off x="8366760" y="2313432"/>
            <a:ext cx="3093415" cy="502920"/>
          </a:xfrm>
          <a:prstGeom prst="rect">
            <a:avLst/>
          </a:prstGeom>
          <a:noFill/>
          <a:ln/>
        </p:spPr>
        <p:txBody>
          <a:bodyPr wrap="square" lIns="0" tIns="0" rIns="0" bIns="0" rtlCol="0" anchor="ctr"/>
          <a:lstStyle/>
          <a:p>
            <a:pPr indent="0" marL="0">
              <a:buNone/>
            </a:pPr>
            <a:r>
              <a:rPr lang="en-US" sz="2400" b="1" dirty="0">
                <a:solidFill>
                  <a:schemeClr val="tx1"/>
                </a:solidFill>
              </a:rPr>
              <a:t>1.08°</a:t>
            </a:r>
            <a:endParaRPr lang="en-US" sz="2400" dirty="0"/>
          </a:p>
        </p:txBody>
      </p:sp>
      <p:sp>
        <p:nvSpPr>
          <p:cNvPr id="9" name="card-227"/>
          <p:cNvSpPr/>
          <p:nvPr/>
        </p:nvSpPr>
        <p:spPr>
          <a:xfrm>
            <a:off x="8183880" y="3337560"/>
            <a:ext cx="3459175" cy="2834640"/>
          </a:xfrm>
          <a:prstGeom prst="roundRect">
            <a:avLst>
              <a:gd name="adj" fmla="val 2581"/>
            </a:avLst>
          </a:prstGeom>
          <a:solidFill>
            <a:schemeClr val="bg2"/>
          </a:solidFill>
          <a:ln/>
        </p:spPr>
      </p:sp>
      <p:sp>
        <p:nvSpPr>
          <p:cNvPr id="10" name="card-heading-228"/>
          <p:cNvSpPr txBox="1"/>
          <p:nvPr/>
        </p:nvSpPr>
        <p:spPr>
          <a:xfrm>
            <a:off x="8458200" y="3538728"/>
            <a:ext cx="2590495" cy="411480"/>
          </a:xfrm>
          <a:prstGeom prst="rect">
            <a:avLst/>
          </a:prstGeom>
          <a:noFill/>
          <a:ln/>
        </p:spPr>
        <p:txBody>
          <a:bodyPr wrap="square" lIns="0" tIns="0" rIns="0" bIns="0" rtlCol="0" anchor="ctr"/>
          <a:lstStyle/>
          <a:p>
            <a:pPr indent="0" marL="0">
              <a:buNone/>
            </a:pPr>
            <a:r>
              <a:rPr lang="en-US" sz="1800" b="1" dirty="0">
                <a:solidFill>
                  <a:schemeClr val="tx1"/>
                </a:solidFill>
              </a:rPr>
              <a:t>Why it works</a:t>
            </a:r>
            <a:endParaRPr lang="en-US" sz="1800" dirty="0"/>
          </a:p>
        </p:txBody>
      </p:sp>
      <p:sp>
        <p:nvSpPr>
          <p:cNvPr id="11" name="card-body-229"/>
          <p:cNvSpPr txBox="1"/>
          <p:nvPr/>
        </p:nvSpPr>
        <p:spPr>
          <a:xfrm>
            <a:off x="8458200" y="4114800"/>
            <a:ext cx="2910535" cy="18745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 PD loop can only resist a constant bias proportionally</a:t>
            </a:r>
            <a:endParaRPr lang="en-US" sz="1400" dirty="0"/>
          </a:p>
          <a:p>
            <a:pPr marL="342900" indent="-342900">
              <a:spcAft>
                <a:spcPts val="800"/>
              </a:spcAft>
              <a:buSzPct val="100000"/>
              <a:buChar char="•"/>
            </a:pPr>
            <a:r>
              <a:rPr lang="en-US" sz="1400" dirty="0">
                <a:solidFill>
                  <a:schemeClr val="tx1"/>
                </a:solidFill>
              </a:rPr>
              <a:t>The integral term drives the remaining error to zero</a:t>
            </a:r>
            <a:endParaRPr lang="en-US" sz="1400" dirty="0"/>
          </a:p>
          <a:p>
            <a:pPr marL="342900" indent="-342900">
              <a:spcAft>
                <a:spcPts val="800"/>
              </a:spcAft>
              <a:buSzPct val="100000"/>
              <a:buChar char="•"/>
            </a:pPr>
            <a:r>
              <a:rPr lang="en-US" sz="1400" dirty="0">
                <a:solidFill>
                  <a:schemeClr val="tx1"/>
                </a:solidFill>
              </a:rPr>
              <a:t>Same with 20 ms delay: PSO ≤ 0.30°, GA ≤ 0.31°</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600" b="1" dirty="0">
                <a:solidFill>
                  <a:schemeClr val="tx1"/>
                </a:solidFill>
              </a:rPr>
              <a:t>Open-loop frequency response</a:t>
            </a:r>
            <a:endParaRPr lang="en-US" sz="36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6"/>
                </a:solidFill>
              </a:rPr>
              <a:t>The optimized loops cross over lower (21-29 rad/s) yet keep 53-67° of phase margin</a:t>
            </a:r>
            <a:endParaRPr lang="en-US" sz="1600" dirty="0"/>
          </a:p>
        </p:txBody>
      </p:sp>
      <p:pic>
        <p:nvPicPr>
          <p:cNvPr id="4" name="figure-230" descr="Open-loop Bode magnitude and phase per joint with crossover and phase margin markers">    </p:cNvPr>
          <p:cNvPicPr>
            <a:picLocks noChangeAspect="1"/>
          </p:cNvPicPr>
          <p:nvPr/>
        </p:nvPicPr>
        <p:blipFill>
          <a:blip r:embed="rId1"/>
          <a:stretch>
            <a:fillRect/>
          </a:stretch>
        </p:blipFill>
        <p:spPr>
          <a:xfrm>
            <a:off x="1981048" y="1554480"/>
            <a:ext cx="8229600" cy="3566160"/>
          </a:xfrm>
          <a:prstGeom prst="rect">
            <a:avLst/>
          </a:prstGeom>
        </p:spPr>
      </p:pic>
      <p:sp>
        <p:nvSpPr>
          <p:cNvPr id="5" name="card-231"/>
          <p:cNvSpPr/>
          <p:nvPr/>
        </p:nvSpPr>
        <p:spPr>
          <a:xfrm>
            <a:off x="548640" y="5257800"/>
            <a:ext cx="2567864" cy="960120"/>
          </a:xfrm>
          <a:prstGeom prst="roundRect">
            <a:avLst>
              <a:gd name="adj" fmla="val 7619"/>
            </a:avLst>
          </a:prstGeom>
          <a:solidFill>
            <a:schemeClr val="bg2"/>
          </a:solidFill>
          <a:ln/>
        </p:spPr>
      </p:sp>
      <p:sp>
        <p:nvSpPr>
          <p:cNvPr id="6" name="dot-232"/>
          <p:cNvSpPr/>
          <p:nvPr/>
        </p:nvSpPr>
        <p:spPr>
          <a:xfrm>
            <a:off x="731520" y="5477256"/>
            <a:ext cx="164592" cy="164592"/>
          </a:xfrm>
          <a:prstGeom prst="ellipse">
            <a:avLst/>
          </a:prstGeom>
          <a:solidFill>
            <a:schemeClr val="accent3"/>
          </a:solidFill>
          <a:ln/>
        </p:spPr>
      </p:sp>
      <p:sp>
        <p:nvSpPr>
          <p:cNvPr id="7" name="chip-label-233"/>
          <p:cNvSpPr txBox="1"/>
          <p:nvPr/>
        </p:nvSpPr>
        <p:spPr>
          <a:xfrm>
            <a:off x="1005840" y="5394960"/>
            <a:ext cx="1927784" cy="329184"/>
          </a:xfrm>
          <a:prstGeom prst="rect">
            <a:avLst/>
          </a:prstGeom>
          <a:noFill/>
          <a:ln/>
        </p:spPr>
        <p:txBody>
          <a:bodyPr wrap="square" lIns="0" tIns="0" rIns="0" bIns="0" rtlCol="0" anchor="ctr"/>
          <a:lstStyle/>
          <a:p>
            <a:pPr indent="0" marL="0">
              <a:buNone/>
            </a:pPr>
            <a:r>
              <a:rPr lang="en-US" sz="1400" b="1" dirty="0">
                <a:solidFill>
                  <a:schemeClr val="tx1"/>
                </a:solidFill>
              </a:rPr>
              <a:t>Thesis PD</a:t>
            </a:r>
            <a:endParaRPr lang="en-US" sz="1400" dirty="0"/>
          </a:p>
        </p:txBody>
      </p:sp>
      <p:sp>
        <p:nvSpPr>
          <p:cNvPr id="8" name="chip-value-234"/>
          <p:cNvSpPr txBox="1"/>
          <p:nvPr/>
        </p:nvSpPr>
        <p:spPr>
          <a:xfrm>
            <a:off x="731520" y="5733288"/>
            <a:ext cx="2202104" cy="393192"/>
          </a:xfrm>
          <a:prstGeom prst="rect">
            <a:avLst/>
          </a:prstGeom>
          <a:noFill/>
          <a:ln/>
        </p:spPr>
        <p:txBody>
          <a:bodyPr wrap="square" lIns="0" tIns="0" rIns="0" bIns="0" rtlCol="0" anchor="ctr"/>
          <a:lstStyle/>
          <a:p>
            <a:pPr indent="0" marL="0">
              <a:buNone/>
            </a:pPr>
            <a:r>
              <a:rPr lang="en-US" sz="1600" b="1" dirty="0">
                <a:solidFill>
                  <a:schemeClr val="tx1"/>
                </a:solidFill>
              </a:rPr>
              <a:t>PM 66-67° @ 35 rad/s</a:t>
            </a:r>
            <a:endParaRPr lang="en-US" sz="1600" dirty="0"/>
          </a:p>
        </p:txBody>
      </p:sp>
      <p:sp>
        <p:nvSpPr>
          <p:cNvPr id="9" name="card-235"/>
          <p:cNvSpPr/>
          <p:nvPr/>
        </p:nvSpPr>
        <p:spPr>
          <a:xfrm>
            <a:off x="3390824" y="5257800"/>
            <a:ext cx="2567864" cy="960120"/>
          </a:xfrm>
          <a:prstGeom prst="roundRect">
            <a:avLst>
              <a:gd name="adj" fmla="val 7619"/>
            </a:avLst>
          </a:prstGeom>
          <a:solidFill>
            <a:schemeClr val="bg2"/>
          </a:solidFill>
          <a:ln/>
        </p:spPr>
      </p:sp>
      <p:sp>
        <p:nvSpPr>
          <p:cNvPr id="10" name="dot-236"/>
          <p:cNvSpPr/>
          <p:nvPr/>
        </p:nvSpPr>
        <p:spPr>
          <a:xfrm>
            <a:off x="3573704" y="5477256"/>
            <a:ext cx="164592" cy="164592"/>
          </a:xfrm>
          <a:prstGeom prst="ellipse">
            <a:avLst/>
          </a:prstGeom>
          <a:solidFill>
            <a:schemeClr val="accent4"/>
          </a:solidFill>
          <a:ln/>
        </p:spPr>
      </p:sp>
      <p:sp>
        <p:nvSpPr>
          <p:cNvPr id="11" name="chip-label-237"/>
          <p:cNvSpPr txBox="1"/>
          <p:nvPr/>
        </p:nvSpPr>
        <p:spPr>
          <a:xfrm>
            <a:off x="3848024" y="5394960"/>
            <a:ext cx="1927784" cy="329184"/>
          </a:xfrm>
          <a:prstGeom prst="rect">
            <a:avLst/>
          </a:prstGeom>
          <a:noFill/>
          <a:ln/>
        </p:spPr>
        <p:txBody>
          <a:bodyPr wrap="square" lIns="0" tIns="0" rIns="0" bIns="0" rtlCol="0" anchor="ctr"/>
          <a:lstStyle/>
          <a:p>
            <a:pPr indent="0" marL="0">
              <a:buNone/>
            </a:pPr>
            <a:r>
              <a:rPr lang="en-US" sz="1400" b="1" dirty="0">
                <a:solidFill>
                  <a:schemeClr val="tx1"/>
                </a:solidFill>
              </a:rPr>
              <a:t>QUARC PID</a:t>
            </a:r>
            <a:endParaRPr lang="en-US" sz="1400" dirty="0"/>
          </a:p>
        </p:txBody>
      </p:sp>
      <p:sp>
        <p:nvSpPr>
          <p:cNvPr id="12" name="chip-value-238"/>
          <p:cNvSpPr txBox="1"/>
          <p:nvPr/>
        </p:nvSpPr>
        <p:spPr>
          <a:xfrm>
            <a:off x="3573704" y="5733288"/>
            <a:ext cx="2202104" cy="393192"/>
          </a:xfrm>
          <a:prstGeom prst="rect">
            <a:avLst/>
          </a:prstGeom>
          <a:noFill/>
          <a:ln/>
        </p:spPr>
        <p:txBody>
          <a:bodyPr wrap="square" lIns="0" tIns="0" rIns="0" bIns="0" rtlCol="0" anchor="ctr"/>
          <a:lstStyle/>
          <a:p>
            <a:pPr indent="0" marL="0">
              <a:buNone/>
            </a:pPr>
            <a:r>
              <a:rPr lang="en-US" sz="1600" b="1" dirty="0">
                <a:solidFill>
                  <a:schemeClr val="tx1"/>
                </a:solidFill>
              </a:rPr>
              <a:t>PM 48° @ 36 rad/s</a:t>
            </a:r>
            <a:endParaRPr lang="en-US" sz="1600" dirty="0"/>
          </a:p>
        </p:txBody>
      </p:sp>
      <p:sp>
        <p:nvSpPr>
          <p:cNvPr id="13" name="card-239"/>
          <p:cNvSpPr/>
          <p:nvPr/>
        </p:nvSpPr>
        <p:spPr>
          <a:xfrm>
            <a:off x="6233008" y="5257800"/>
            <a:ext cx="2567864" cy="960120"/>
          </a:xfrm>
          <a:prstGeom prst="roundRect">
            <a:avLst>
              <a:gd name="adj" fmla="val 7619"/>
            </a:avLst>
          </a:prstGeom>
          <a:solidFill>
            <a:schemeClr val="bg2"/>
          </a:solidFill>
          <a:ln/>
        </p:spPr>
      </p:sp>
      <p:sp>
        <p:nvSpPr>
          <p:cNvPr id="14" name="dot-240"/>
          <p:cNvSpPr/>
          <p:nvPr/>
        </p:nvSpPr>
        <p:spPr>
          <a:xfrm>
            <a:off x="6415888" y="5477256"/>
            <a:ext cx="164592" cy="164592"/>
          </a:xfrm>
          <a:prstGeom prst="ellipse">
            <a:avLst/>
          </a:prstGeom>
          <a:solidFill>
            <a:schemeClr val="accent1"/>
          </a:solidFill>
          <a:ln/>
        </p:spPr>
      </p:sp>
      <p:sp>
        <p:nvSpPr>
          <p:cNvPr id="15" name="chip-label-241"/>
          <p:cNvSpPr txBox="1"/>
          <p:nvPr/>
        </p:nvSpPr>
        <p:spPr>
          <a:xfrm>
            <a:off x="6690208" y="5394960"/>
            <a:ext cx="1927784" cy="329184"/>
          </a:xfrm>
          <a:prstGeom prst="rect">
            <a:avLst/>
          </a:prstGeom>
          <a:noFill/>
          <a:ln/>
        </p:spPr>
        <p:txBody>
          <a:bodyPr wrap="square" lIns="0" tIns="0" rIns="0" bIns="0" rtlCol="0" anchor="ctr"/>
          <a:lstStyle/>
          <a:p>
            <a:pPr indent="0" marL="0">
              <a:buNone/>
            </a:pPr>
            <a:r>
              <a:rPr lang="en-US" sz="1400" b="1" dirty="0">
                <a:solidFill>
                  <a:schemeClr val="tx1"/>
                </a:solidFill>
              </a:rPr>
              <a:t>PSO-PID</a:t>
            </a:r>
            <a:endParaRPr lang="en-US" sz="1400" dirty="0"/>
          </a:p>
        </p:txBody>
      </p:sp>
      <p:sp>
        <p:nvSpPr>
          <p:cNvPr id="16" name="chip-value-242"/>
          <p:cNvSpPr txBox="1"/>
          <p:nvPr/>
        </p:nvSpPr>
        <p:spPr>
          <a:xfrm>
            <a:off x="6415888" y="5733288"/>
            <a:ext cx="2202104" cy="393192"/>
          </a:xfrm>
          <a:prstGeom prst="rect">
            <a:avLst/>
          </a:prstGeom>
          <a:noFill/>
          <a:ln/>
        </p:spPr>
        <p:txBody>
          <a:bodyPr wrap="square" lIns="0" tIns="0" rIns="0" bIns="0" rtlCol="0" anchor="ctr"/>
          <a:lstStyle/>
          <a:p>
            <a:pPr indent="0" marL="0">
              <a:buNone/>
            </a:pPr>
            <a:r>
              <a:rPr lang="en-US" sz="1600" b="1" dirty="0">
                <a:solidFill>
                  <a:schemeClr val="tx1"/>
                </a:solidFill>
              </a:rPr>
              <a:t>PM 56-65° @ 25-28 rad/s</a:t>
            </a:r>
            <a:endParaRPr lang="en-US" sz="1600" dirty="0"/>
          </a:p>
        </p:txBody>
      </p:sp>
      <p:sp>
        <p:nvSpPr>
          <p:cNvPr id="17" name="card-243"/>
          <p:cNvSpPr/>
          <p:nvPr/>
        </p:nvSpPr>
        <p:spPr>
          <a:xfrm>
            <a:off x="9075191" y="5257800"/>
            <a:ext cx="2567864" cy="960120"/>
          </a:xfrm>
          <a:prstGeom prst="roundRect">
            <a:avLst>
              <a:gd name="adj" fmla="val 7619"/>
            </a:avLst>
          </a:prstGeom>
          <a:solidFill>
            <a:schemeClr val="bg2"/>
          </a:solidFill>
          <a:ln/>
        </p:spPr>
      </p:sp>
      <p:sp>
        <p:nvSpPr>
          <p:cNvPr id="18" name="dot-244"/>
          <p:cNvSpPr/>
          <p:nvPr/>
        </p:nvSpPr>
        <p:spPr>
          <a:xfrm>
            <a:off x="9258071" y="5477256"/>
            <a:ext cx="164592" cy="164592"/>
          </a:xfrm>
          <a:prstGeom prst="ellipse">
            <a:avLst/>
          </a:prstGeom>
          <a:solidFill>
            <a:schemeClr val="accent2"/>
          </a:solidFill>
          <a:ln/>
        </p:spPr>
      </p:sp>
      <p:sp>
        <p:nvSpPr>
          <p:cNvPr id="19" name="chip-label-245"/>
          <p:cNvSpPr txBox="1"/>
          <p:nvPr/>
        </p:nvSpPr>
        <p:spPr>
          <a:xfrm>
            <a:off x="9532391" y="5394960"/>
            <a:ext cx="1927784" cy="329184"/>
          </a:xfrm>
          <a:prstGeom prst="rect">
            <a:avLst/>
          </a:prstGeom>
          <a:noFill/>
          <a:ln/>
        </p:spPr>
        <p:txBody>
          <a:bodyPr wrap="square" lIns="0" tIns="0" rIns="0" bIns="0" rtlCol="0" anchor="ctr"/>
          <a:lstStyle/>
          <a:p>
            <a:pPr indent="0" marL="0">
              <a:buNone/>
            </a:pPr>
            <a:r>
              <a:rPr lang="en-US" sz="1400" b="1" dirty="0">
                <a:solidFill>
                  <a:schemeClr val="tx1"/>
                </a:solidFill>
              </a:rPr>
              <a:t>GA-PID</a:t>
            </a:r>
            <a:endParaRPr lang="en-US" sz="1400" dirty="0"/>
          </a:p>
        </p:txBody>
      </p:sp>
      <p:sp>
        <p:nvSpPr>
          <p:cNvPr id="20" name="chip-value-246"/>
          <p:cNvSpPr txBox="1"/>
          <p:nvPr/>
        </p:nvSpPr>
        <p:spPr>
          <a:xfrm>
            <a:off x="9258071" y="5733288"/>
            <a:ext cx="2202104" cy="393192"/>
          </a:xfrm>
          <a:prstGeom prst="rect">
            <a:avLst/>
          </a:prstGeom>
          <a:noFill/>
          <a:ln/>
        </p:spPr>
        <p:txBody>
          <a:bodyPr wrap="square" lIns="0" tIns="0" rIns="0" bIns="0" rtlCol="0" anchor="ctr"/>
          <a:lstStyle/>
          <a:p>
            <a:pPr indent="0" marL="0">
              <a:buNone/>
            </a:pPr>
            <a:r>
              <a:rPr lang="en-US" sz="1600" b="1" dirty="0">
                <a:solidFill>
                  <a:schemeClr val="tx1"/>
                </a:solidFill>
              </a:rPr>
              <a:t>PM 53-67° @ 21-29 rad/s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600" b="1" dirty="0">
                <a:solidFill>
                  <a:schemeClr val="tx1"/>
                </a:solidFill>
              </a:rPr>
              <a:t>Robustness to loop delay</a:t>
            </a:r>
            <a:endParaRPr lang="en-US" sz="36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6"/>
                </a:solidFill>
              </a:rPr>
              <a:t>PSO-PID stays stable 10 ms longer than the thesis PD, beyond the 34.9 ms design margin</a:t>
            </a:r>
            <a:endParaRPr lang="en-US" sz="1600" dirty="0"/>
          </a:p>
        </p:txBody>
      </p:sp>
      <p:pic>
        <p:nvPicPr>
          <p:cNvPr id="4" name="figure-247" descr="ITAE and overshoot versus in-loop delay from 0 to 50 ms">    </p:cNvPr>
          <p:cNvPicPr>
            <a:picLocks noChangeAspect="1"/>
          </p:cNvPicPr>
          <p:nvPr/>
        </p:nvPicPr>
        <p:blipFill>
          <a:blip r:embed="rId1"/>
          <a:stretch>
            <a:fillRect/>
          </a:stretch>
        </p:blipFill>
        <p:spPr>
          <a:xfrm>
            <a:off x="975208" y="1600200"/>
            <a:ext cx="10241280" cy="3387500"/>
          </a:xfrm>
          <a:prstGeom prst="rect">
            <a:avLst/>
          </a:prstGeom>
        </p:spPr>
      </p:pic>
      <p:sp>
        <p:nvSpPr>
          <p:cNvPr id="5" name="card-248"/>
          <p:cNvSpPr/>
          <p:nvPr/>
        </p:nvSpPr>
        <p:spPr>
          <a:xfrm>
            <a:off x="548640" y="5170580"/>
            <a:ext cx="3515258" cy="1047340"/>
          </a:xfrm>
          <a:prstGeom prst="roundRect">
            <a:avLst>
              <a:gd name="adj" fmla="val 6985"/>
            </a:avLst>
          </a:prstGeom>
          <a:solidFill>
            <a:schemeClr val="bg2"/>
          </a:solidFill>
          <a:ln/>
        </p:spPr>
      </p:sp>
      <p:sp>
        <p:nvSpPr>
          <p:cNvPr id="6" name="dot-249"/>
          <p:cNvSpPr/>
          <p:nvPr/>
        </p:nvSpPr>
        <p:spPr>
          <a:xfrm>
            <a:off x="731520" y="5390036"/>
            <a:ext cx="164592" cy="164592"/>
          </a:xfrm>
          <a:prstGeom prst="ellipse">
            <a:avLst/>
          </a:prstGeom>
          <a:solidFill>
            <a:schemeClr val="accent3"/>
          </a:solidFill>
          <a:ln/>
        </p:spPr>
      </p:sp>
      <p:sp>
        <p:nvSpPr>
          <p:cNvPr id="7" name="chip-label-250"/>
          <p:cNvSpPr txBox="1"/>
          <p:nvPr/>
        </p:nvSpPr>
        <p:spPr>
          <a:xfrm>
            <a:off x="1005840" y="5307740"/>
            <a:ext cx="2875178" cy="329184"/>
          </a:xfrm>
          <a:prstGeom prst="rect">
            <a:avLst/>
          </a:prstGeom>
          <a:noFill/>
          <a:ln/>
        </p:spPr>
        <p:txBody>
          <a:bodyPr wrap="square" lIns="0" tIns="0" rIns="0" bIns="0" rtlCol="0" anchor="ctr"/>
          <a:lstStyle/>
          <a:p>
            <a:pPr indent="0" marL="0">
              <a:buNone/>
            </a:pPr>
            <a:r>
              <a:rPr lang="en-US" sz="1400" b="1" dirty="0">
                <a:solidFill>
                  <a:schemeClr val="tx1"/>
                </a:solidFill>
              </a:rPr>
              <a:t>Thesis PD: first unstable at</a:t>
            </a:r>
            <a:endParaRPr lang="en-US" sz="1400" dirty="0"/>
          </a:p>
        </p:txBody>
      </p:sp>
      <p:sp>
        <p:nvSpPr>
          <p:cNvPr id="8" name="chip-value-251"/>
          <p:cNvSpPr txBox="1"/>
          <p:nvPr/>
        </p:nvSpPr>
        <p:spPr>
          <a:xfrm>
            <a:off x="731520" y="5646068"/>
            <a:ext cx="3149498" cy="480412"/>
          </a:xfrm>
          <a:prstGeom prst="rect">
            <a:avLst/>
          </a:prstGeom>
          <a:noFill/>
          <a:ln/>
        </p:spPr>
        <p:txBody>
          <a:bodyPr wrap="square" lIns="0" tIns="0" rIns="0" bIns="0" rtlCol="0" anchor="ctr"/>
          <a:lstStyle/>
          <a:p>
            <a:pPr indent="0" marL="0">
              <a:buNone/>
            </a:pPr>
            <a:r>
              <a:rPr lang="en-US" sz="1800" b="1" dirty="0">
                <a:solidFill>
                  <a:schemeClr val="tx1"/>
                </a:solidFill>
              </a:rPr>
              <a:t>32.5 ms</a:t>
            </a:r>
            <a:endParaRPr lang="en-US" sz="1800" dirty="0"/>
          </a:p>
        </p:txBody>
      </p:sp>
      <p:sp>
        <p:nvSpPr>
          <p:cNvPr id="9" name="card-252"/>
          <p:cNvSpPr/>
          <p:nvPr/>
        </p:nvSpPr>
        <p:spPr>
          <a:xfrm>
            <a:off x="4338218" y="5170580"/>
            <a:ext cx="3515258" cy="1047340"/>
          </a:xfrm>
          <a:prstGeom prst="roundRect">
            <a:avLst>
              <a:gd name="adj" fmla="val 6985"/>
            </a:avLst>
          </a:prstGeom>
          <a:solidFill>
            <a:schemeClr val="bg2"/>
          </a:solidFill>
          <a:ln/>
        </p:spPr>
      </p:sp>
      <p:sp>
        <p:nvSpPr>
          <p:cNvPr id="10" name="dot-253"/>
          <p:cNvSpPr/>
          <p:nvPr/>
        </p:nvSpPr>
        <p:spPr>
          <a:xfrm>
            <a:off x="4521098" y="5390036"/>
            <a:ext cx="164592" cy="164592"/>
          </a:xfrm>
          <a:prstGeom prst="ellipse">
            <a:avLst/>
          </a:prstGeom>
          <a:solidFill>
            <a:schemeClr val="accent2"/>
          </a:solidFill>
          <a:ln/>
        </p:spPr>
      </p:sp>
      <p:sp>
        <p:nvSpPr>
          <p:cNvPr id="11" name="chip-label-254"/>
          <p:cNvSpPr txBox="1"/>
          <p:nvPr/>
        </p:nvSpPr>
        <p:spPr>
          <a:xfrm>
            <a:off x="4795418" y="5307740"/>
            <a:ext cx="2875178" cy="329184"/>
          </a:xfrm>
          <a:prstGeom prst="rect">
            <a:avLst/>
          </a:prstGeom>
          <a:noFill/>
          <a:ln/>
        </p:spPr>
        <p:txBody>
          <a:bodyPr wrap="square" lIns="0" tIns="0" rIns="0" bIns="0" rtlCol="0" anchor="ctr"/>
          <a:lstStyle/>
          <a:p>
            <a:pPr indent="0" marL="0">
              <a:buNone/>
            </a:pPr>
            <a:r>
              <a:rPr lang="en-US" sz="1400" b="1" dirty="0">
                <a:solidFill>
                  <a:schemeClr val="tx1"/>
                </a:solidFill>
              </a:rPr>
              <a:t>GA-PID: first unstable at</a:t>
            </a:r>
            <a:endParaRPr lang="en-US" sz="1400" dirty="0"/>
          </a:p>
        </p:txBody>
      </p:sp>
      <p:sp>
        <p:nvSpPr>
          <p:cNvPr id="12" name="chip-value-255"/>
          <p:cNvSpPr txBox="1"/>
          <p:nvPr/>
        </p:nvSpPr>
        <p:spPr>
          <a:xfrm>
            <a:off x="4521098" y="5646068"/>
            <a:ext cx="3149498" cy="480412"/>
          </a:xfrm>
          <a:prstGeom prst="rect">
            <a:avLst/>
          </a:prstGeom>
          <a:noFill/>
          <a:ln/>
        </p:spPr>
        <p:txBody>
          <a:bodyPr wrap="square" lIns="0" tIns="0" rIns="0" bIns="0" rtlCol="0" anchor="ctr"/>
          <a:lstStyle/>
          <a:p>
            <a:pPr indent="0" marL="0">
              <a:buNone/>
            </a:pPr>
            <a:r>
              <a:rPr lang="en-US" sz="1800" b="1" dirty="0">
                <a:solidFill>
                  <a:schemeClr val="tx1"/>
                </a:solidFill>
              </a:rPr>
              <a:t>37.5 ms</a:t>
            </a:r>
            <a:endParaRPr lang="en-US" sz="1800" dirty="0"/>
          </a:p>
        </p:txBody>
      </p:sp>
      <p:sp>
        <p:nvSpPr>
          <p:cNvPr id="13" name="card-256"/>
          <p:cNvSpPr/>
          <p:nvPr/>
        </p:nvSpPr>
        <p:spPr>
          <a:xfrm>
            <a:off x="8127797" y="5170580"/>
            <a:ext cx="3515258" cy="1047340"/>
          </a:xfrm>
          <a:prstGeom prst="roundRect">
            <a:avLst>
              <a:gd name="adj" fmla="val 6985"/>
            </a:avLst>
          </a:prstGeom>
          <a:solidFill>
            <a:schemeClr val="bg2"/>
          </a:solidFill>
          <a:ln/>
        </p:spPr>
      </p:sp>
      <p:sp>
        <p:nvSpPr>
          <p:cNvPr id="14" name="dot-257"/>
          <p:cNvSpPr/>
          <p:nvPr/>
        </p:nvSpPr>
        <p:spPr>
          <a:xfrm>
            <a:off x="8310677" y="5390036"/>
            <a:ext cx="164592" cy="164592"/>
          </a:xfrm>
          <a:prstGeom prst="ellipse">
            <a:avLst/>
          </a:prstGeom>
          <a:solidFill>
            <a:schemeClr val="accent1"/>
          </a:solidFill>
          <a:ln/>
        </p:spPr>
      </p:sp>
      <p:sp>
        <p:nvSpPr>
          <p:cNvPr id="15" name="chip-label-258"/>
          <p:cNvSpPr txBox="1"/>
          <p:nvPr/>
        </p:nvSpPr>
        <p:spPr>
          <a:xfrm>
            <a:off x="8584997" y="5307740"/>
            <a:ext cx="2875178" cy="329184"/>
          </a:xfrm>
          <a:prstGeom prst="rect">
            <a:avLst/>
          </a:prstGeom>
          <a:noFill/>
          <a:ln/>
        </p:spPr>
        <p:txBody>
          <a:bodyPr wrap="square" lIns="0" tIns="0" rIns="0" bIns="0" rtlCol="0" anchor="ctr"/>
          <a:lstStyle/>
          <a:p>
            <a:pPr indent="0" marL="0">
              <a:buNone/>
            </a:pPr>
            <a:r>
              <a:rPr lang="en-US" sz="1400" b="1" dirty="0">
                <a:solidFill>
                  <a:schemeClr val="tx1"/>
                </a:solidFill>
              </a:rPr>
              <a:t>PSO-PID: first unstable at</a:t>
            </a:r>
            <a:endParaRPr lang="en-US" sz="1400" dirty="0"/>
          </a:p>
        </p:txBody>
      </p:sp>
      <p:sp>
        <p:nvSpPr>
          <p:cNvPr id="16" name="chip-value-259"/>
          <p:cNvSpPr txBox="1"/>
          <p:nvPr/>
        </p:nvSpPr>
        <p:spPr>
          <a:xfrm>
            <a:off x="8310677" y="5646068"/>
            <a:ext cx="3149498" cy="480412"/>
          </a:xfrm>
          <a:prstGeom prst="rect">
            <a:avLst/>
          </a:prstGeom>
          <a:noFill/>
          <a:ln/>
        </p:spPr>
        <p:txBody>
          <a:bodyPr wrap="square" lIns="0" tIns="0" rIns="0" bIns="0" rtlCol="0" anchor="ctr"/>
          <a:lstStyle/>
          <a:p>
            <a:pPr indent="0" marL="0">
              <a:buNone/>
            </a:pPr>
            <a:r>
              <a:rPr lang="en-US" sz="1800" b="1" dirty="0">
                <a:solidFill>
                  <a:schemeClr val="tx1"/>
                </a:solidFill>
              </a:rPr>
              <a:t>42.5 ms</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600" b="1" dirty="0">
                <a:solidFill>
                  <a:schemeClr val="tx1"/>
                </a:solidFill>
              </a:rPr>
              <a:t>Seam welding, local loop</a:t>
            </a:r>
            <a:endParaRPr lang="en-US" sz="36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6"/>
                </a:solidFill>
              </a:rPr>
              <a:t>The PD sag becomes 34 mm of tool error on the 12 cm weave seam; the tuned PIDs track within 2.2 mm</a:t>
            </a:r>
            <a:endParaRPr lang="en-US" sz="1600" dirty="0"/>
          </a:p>
        </p:txBody>
      </p:sp>
      <p:pic>
        <p:nvPicPr>
          <p:cNvPr id="4" name="figure-260" descr="3D seam-welding tool path and Cartesian tracking error, local loop">    </p:cNvPr>
          <p:cNvPicPr>
            <a:picLocks noChangeAspect="1"/>
          </p:cNvPicPr>
          <p:nvPr/>
        </p:nvPicPr>
        <p:blipFill>
          <a:blip r:embed="rId1"/>
          <a:stretch>
            <a:fillRect/>
          </a:stretch>
        </p:blipFill>
        <p:spPr>
          <a:xfrm>
            <a:off x="1066648" y="1600200"/>
            <a:ext cx="10058400" cy="3486912"/>
          </a:xfrm>
          <a:prstGeom prst="rect">
            <a:avLst/>
          </a:prstGeom>
        </p:spPr>
      </p:pic>
      <p:sp>
        <p:nvSpPr>
          <p:cNvPr id="5" name="card-261"/>
          <p:cNvSpPr/>
          <p:nvPr/>
        </p:nvSpPr>
        <p:spPr>
          <a:xfrm>
            <a:off x="548640" y="5224272"/>
            <a:ext cx="3515258" cy="993648"/>
          </a:xfrm>
          <a:prstGeom prst="roundRect">
            <a:avLst>
              <a:gd name="adj" fmla="val 7362"/>
            </a:avLst>
          </a:prstGeom>
          <a:solidFill>
            <a:schemeClr val="bg2"/>
          </a:solidFill>
          <a:ln/>
        </p:spPr>
      </p:sp>
      <p:sp>
        <p:nvSpPr>
          <p:cNvPr id="6" name="dot-262"/>
          <p:cNvSpPr/>
          <p:nvPr/>
        </p:nvSpPr>
        <p:spPr>
          <a:xfrm>
            <a:off x="731520" y="5443728"/>
            <a:ext cx="164592" cy="164592"/>
          </a:xfrm>
          <a:prstGeom prst="ellipse">
            <a:avLst/>
          </a:prstGeom>
          <a:solidFill>
            <a:schemeClr val="accent3"/>
          </a:solidFill>
          <a:ln/>
        </p:spPr>
      </p:sp>
      <p:sp>
        <p:nvSpPr>
          <p:cNvPr id="7" name="chip-label-263"/>
          <p:cNvSpPr txBox="1"/>
          <p:nvPr/>
        </p:nvSpPr>
        <p:spPr>
          <a:xfrm>
            <a:off x="1005840" y="5361432"/>
            <a:ext cx="2875178" cy="329184"/>
          </a:xfrm>
          <a:prstGeom prst="rect">
            <a:avLst/>
          </a:prstGeom>
          <a:noFill/>
          <a:ln/>
        </p:spPr>
        <p:txBody>
          <a:bodyPr wrap="square" lIns="0" tIns="0" rIns="0" bIns="0" rtlCol="0" anchor="ctr"/>
          <a:lstStyle/>
          <a:p>
            <a:pPr indent="0" marL="0">
              <a:buNone/>
            </a:pPr>
            <a:r>
              <a:rPr lang="en-US" sz="1400" b="1" dirty="0">
                <a:solidFill>
                  <a:schemeClr val="tx1"/>
                </a:solidFill>
              </a:rPr>
              <a:t>Thesis PD</a:t>
            </a:r>
            <a:endParaRPr lang="en-US" sz="1400" dirty="0"/>
          </a:p>
        </p:txBody>
      </p:sp>
      <p:sp>
        <p:nvSpPr>
          <p:cNvPr id="8" name="chip-value-264"/>
          <p:cNvSpPr txBox="1"/>
          <p:nvPr/>
        </p:nvSpPr>
        <p:spPr>
          <a:xfrm>
            <a:off x="731520" y="5699760"/>
            <a:ext cx="3149498" cy="426720"/>
          </a:xfrm>
          <a:prstGeom prst="rect">
            <a:avLst/>
          </a:prstGeom>
          <a:noFill/>
          <a:ln/>
        </p:spPr>
        <p:txBody>
          <a:bodyPr wrap="square" lIns="0" tIns="0" rIns="0" bIns="0" rtlCol="0" anchor="ctr"/>
          <a:lstStyle/>
          <a:p>
            <a:pPr indent="0" marL="0">
              <a:buNone/>
            </a:pPr>
            <a:r>
              <a:rPr lang="en-US" sz="1800" b="1" dirty="0">
                <a:solidFill>
                  <a:schemeClr val="tx1"/>
                </a:solidFill>
              </a:rPr>
              <a:t>33.8 mm RMS</a:t>
            </a:r>
            <a:endParaRPr lang="en-US" sz="1800" dirty="0"/>
          </a:p>
        </p:txBody>
      </p:sp>
      <p:sp>
        <p:nvSpPr>
          <p:cNvPr id="9" name="card-265"/>
          <p:cNvSpPr/>
          <p:nvPr/>
        </p:nvSpPr>
        <p:spPr>
          <a:xfrm>
            <a:off x="4338218" y="5224272"/>
            <a:ext cx="3515258" cy="993648"/>
          </a:xfrm>
          <a:prstGeom prst="roundRect">
            <a:avLst>
              <a:gd name="adj" fmla="val 7362"/>
            </a:avLst>
          </a:prstGeom>
          <a:solidFill>
            <a:schemeClr val="bg2"/>
          </a:solidFill>
          <a:ln/>
        </p:spPr>
      </p:sp>
      <p:sp>
        <p:nvSpPr>
          <p:cNvPr id="10" name="dot-266"/>
          <p:cNvSpPr/>
          <p:nvPr/>
        </p:nvSpPr>
        <p:spPr>
          <a:xfrm>
            <a:off x="4521098" y="5443728"/>
            <a:ext cx="164592" cy="164592"/>
          </a:xfrm>
          <a:prstGeom prst="ellipse">
            <a:avLst/>
          </a:prstGeom>
          <a:solidFill>
            <a:schemeClr val="accent1"/>
          </a:solidFill>
          <a:ln/>
        </p:spPr>
      </p:sp>
      <p:sp>
        <p:nvSpPr>
          <p:cNvPr id="11" name="chip-label-267"/>
          <p:cNvSpPr txBox="1"/>
          <p:nvPr/>
        </p:nvSpPr>
        <p:spPr>
          <a:xfrm>
            <a:off x="4795418" y="5361432"/>
            <a:ext cx="2875178" cy="329184"/>
          </a:xfrm>
          <a:prstGeom prst="rect">
            <a:avLst/>
          </a:prstGeom>
          <a:noFill/>
          <a:ln/>
        </p:spPr>
        <p:txBody>
          <a:bodyPr wrap="square" lIns="0" tIns="0" rIns="0" bIns="0" rtlCol="0" anchor="ctr"/>
          <a:lstStyle/>
          <a:p>
            <a:pPr indent="0" marL="0">
              <a:buNone/>
            </a:pPr>
            <a:r>
              <a:rPr lang="en-US" sz="1400" b="1" dirty="0">
                <a:solidFill>
                  <a:schemeClr val="tx1"/>
                </a:solidFill>
              </a:rPr>
              <a:t>PSO-PID</a:t>
            </a:r>
            <a:endParaRPr lang="en-US" sz="1400" dirty="0"/>
          </a:p>
        </p:txBody>
      </p:sp>
      <p:sp>
        <p:nvSpPr>
          <p:cNvPr id="12" name="chip-value-268"/>
          <p:cNvSpPr txBox="1"/>
          <p:nvPr/>
        </p:nvSpPr>
        <p:spPr>
          <a:xfrm>
            <a:off x="4521098" y="5699760"/>
            <a:ext cx="3149498" cy="426720"/>
          </a:xfrm>
          <a:prstGeom prst="rect">
            <a:avLst/>
          </a:prstGeom>
          <a:noFill/>
          <a:ln/>
        </p:spPr>
        <p:txBody>
          <a:bodyPr wrap="square" lIns="0" tIns="0" rIns="0" bIns="0" rtlCol="0" anchor="ctr"/>
          <a:lstStyle/>
          <a:p>
            <a:pPr indent="0" marL="0">
              <a:buNone/>
            </a:pPr>
            <a:r>
              <a:rPr lang="en-US" sz="1800" b="1" dirty="0">
                <a:solidFill>
                  <a:schemeClr val="tx1"/>
                </a:solidFill>
              </a:rPr>
              <a:t>2.17 mm RMS</a:t>
            </a:r>
            <a:endParaRPr lang="en-US" sz="1800" dirty="0"/>
          </a:p>
        </p:txBody>
      </p:sp>
      <p:sp>
        <p:nvSpPr>
          <p:cNvPr id="13" name="card-269"/>
          <p:cNvSpPr/>
          <p:nvPr/>
        </p:nvSpPr>
        <p:spPr>
          <a:xfrm>
            <a:off x="8127797" y="5224272"/>
            <a:ext cx="3515258" cy="993648"/>
          </a:xfrm>
          <a:prstGeom prst="roundRect">
            <a:avLst>
              <a:gd name="adj" fmla="val 7362"/>
            </a:avLst>
          </a:prstGeom>
          <a:solidFill>
            <a:schemeClr val="bg2"/>
          </a:solidFill>
          <a:ln/>
        </p:spPr>
      </p:sp>
      <p:sp>
        <p:nvSpPr>
          <p:cNvPr id="14" name="dot-270"/>
          <p:cNvSpPr/>
          <p:nvPr/>
        </p:nvSpPr>
        <p:spPr>
          <a:xfrm>
            <a:off x="8310677" y="5443728"/>
            <a:ext cx="164592" cy="164592"/>
          </a:xfrm>
          <a:prstGeom prst="ellipse">
            <a:avLst/>
          </a:prstGeom>
          <a:solidFill>
            <a:schemeClr val="accent2"/>
          </a:solidFill>
          <a:ln/>
        </p:spPr>
      </p:sp>
      <p:sp>
        <p:nvSpPr>
          <p:cNvPr id="15" name="chip-label-271"/>
          <p:cNvSpPr txBox="1"/>
          <p:nvPr/>
        </p:nvSpPr>
        <p:spPr>
          <a:xfrm>
            <a:off x="8584997" y="5361432"/>
            <a:ext cx="2875178" cy="329184"/>
          </a:xfrm>
          <a:prstGeom prst="rect">
            <a:avLst/>
          </a:prstGeom>
          <a:noFill/>
          <a:ln/>
        </p:spPr>
        <p:txBody>
          <a:bodyPr wrap="square" lIns="0" tIns="0" rIns="0" bIns="0" rtlCol="0" anchor="ctr"/>
          <a:lstStyle/>
          <a:p>
            <a:pPr indent="0" marL="0">
              <a:buNone/>
            </a:pPr>
            <a:r>
              <a:rPr lang="en-US" sz="1400" b="1" dirty="0">
                <a:solidFill>
                  <a:schemeClr val="tx1"/>
                </a:solidFill>
              </a:rPr>
              <a:t>GA-PID</a:t>
            </a:r>
            <a:endParaRPr lang="en-US" sz="1400" dirty="0"/>
          </a:p>
        </p:txBody>
      </p:sp>
      <p:sp>
        <p:nvSpPr>
          <p:cNvPr id="16" name="chip-value-272"/>
          <p:cNvSpPr txBox="1"/>
          <p:nvPr/>
        </p:nvSpPr>
        <p:spPr>
          <a:xfrm>
            <a:off x="8310677" y="5699760"/>
            <a:ext cx="3149498" cy="426720"/>
          </a:xfrm>
          <a:prstGeom prst="rect">
            <a:avLst/>
          </a:prstGeom>
          <a:noFill/>
          <a:ln/>
        </p:spPr>
        <p:txBody>
          <a:bodyPr wrap="square" lIns="0" tIns="0" rIns="0" bIns="0" rtlCol="0" anchor="ctr"/>
          <a:lstStyle/>
          <a:p>
            <a:pPr indent="0" marL="0">
              <a:buNone/>
            </a:pPr>
            <a:r>
              <a:rPr lang="en-US" sz="1800" b="1" dirty="0">
                <a:solidFill>
                  <a:schemeClr val="tx1"/>
                </a:solidFill>
              </a:rPr>
              <a:t>2.14 mm RMS</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600" b="1" dirty="0">
                <a:solidFill>
                  <a:schemeClr val="tx1"/>
                </a:solidFill>
              </a:rPr>
              <a:t>Seam welding over a 20 ms loop</a:t>
            </a:r>
            <a:endParaRPr lang="en-US" sz="36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6"/>
                </a:solidFill>
              </a:rPr>
              <a:t>Tracking holds up over the UDP delay: 2.21 mm (PSO) and 2.14 mm (GA) RMS</a:t>
            </a:r>
            <a:endParaRPr lang="en-US" sz="1600" dirty="0"/>
          </a:p>
        </p:txBody>
      </p:sp>
      <p:pic>
        <p:nvPicPr>
          <p:cNvPr id="4" name="figure-273" descr="3D seam-welding tool path and Cartesian tracking error with a 20 ms feedback delay">    </p:cNvPr>
          <p:cNvPicPr>
            <a:picLocks noChangeAspect="1"/>
          </p:cNvPicPr>
          <p:nvPr/>
        </p:nvPicPr>
        <p:blipFill>
          <a:blip r:embed="rId1"/>
          <a:stretch>
            <a:fillRect/>
          </a:stretch>
        </p:blipFill>
        <p:spPr>
          <a:xfrm>
            <a:off x="1066648" y="1600200"/>
            <a:ext cx="10058400" cy="3486912"/>
          </a:xfrm>
          <a:prstGeom prst="rect">
            <a:avLst/>
          </a:prstGeom>
        </p:spPr>
      </p:pic>
      <p:sp>
        <p:nvSpPr>
          <p:cNvPr id="5" name="card-274"/>
          <p:cNvSpPr/>
          <p:nvPr/>
        </p:nvSpPr>
        <p:spPr>
          <a:xfrm>
            <a:off x="548640" y="5224272"/>
            <a:ext cx="3515258" cy="993648"/>
          </a:xfrm>
          <a:prstGeom prst="roundRect">
            <a:avLst>
              <a:gd name="adj" fmla="val 7362"/>
            </a:avLst>
          </a:prstGeom>
          <a:solidFill>
            <a:schemeClr val="bg2"/>
          </a:solidFill>
          <a:ln/>
        </p:spPr>
      </p:sp>
      <p:sp>
        <p:nvSpPr>
          <p:cNvPr id="6" name="dot-275"/>
          <p:cNvSpPr/>
          <p:nvPr/>
        </p:nvSpPr>
        <p:spPr>
          <a:xfrm>
            <a:off x="731520" y="5443728"/>
            <a:ext cx="164592" cy="164592"/>
          </a:xfrm>
          <a:prstGeom prst="ellipse">
            <a:avLst/>
          </a:prstGeom>
          <a:solidFill>
            <a:schemeClr val="accent3"/>
          </a:solidFill>
          <a:ln/>
        </p:spPr>
      </p:sp>
      <p:sp>
        <p:nvSpPr>
          <p:cNvPr id="7" name="chip-label-276"/>
          <p:cNvSpPr txBox="1"/>
          <p:nvPr/>
        </p:nvSpPr>
        <p:spPr>
          <a:xfrm>
            <a:off x="1005840" y="5361432"/>
            <a:ext cx="2875178" cy="329184"/>
          </a:xfrm>
          <a:prstGeom prst="rect">
            <a:avLst/>
          </a:prstGeom>
          <a:noFill/>
          <a:ln/>
        </p:spPr>
        <p:txBody>
          <a:bodyPr wrap="square" lIns="0" tIns="0" rIns="0" bIns="0" rtlCol="0" anchor="ctr"/>
          <a:lstStyle/>
          <a:p>
            <a:pPr indent="0" marL="0">
              <a:buNone/>
            </a:pPr>
            <a:r>
              <a:rPr lang="en-US" sz="1400" b="1" dirty="0">
                <a:solidFill>
                  <a:schemeClr val="tx1"/>
                </a:solidFill>
              </a:rPr>
              <a:t>Thesis PD</a:t>
            </a:r>
            <a:endParaRPr lang="en-US" sz="1400" dirty="0"/>
          </a:p>
        </p:txBody>
      </p:sp>
      <p:sp>
        <p:nvSpPr>
          <p:cNvPr id="8" name="chip-value-277"/>
          <p:cNvSpPr txBox="1"/>
          <p:nvPr/>
        </p:nvSpPr>
        <p:spPr>
          <a:xfrm>
            <a:off x="731520" y="5699760"/>
            <a:ext cx="3149498" cy="426720"/>
          </a:xfrm>
          <a:prstGeom prst="rect">
            <a:avLst/>
          </a:prstGeom>
          <a:noFill/>
          <a:ln/>
        </p:spPr>
        <p:txBody>
          <a:bodyPr wrap="square" lIns="0" tIns="0" rIns="0" bIns="0" rtlCol="0" anchor="ctr"/>
          <a:lstStyle/>
          <a:p>
            <a:pPr indent="0" marL="0">
              <a:buNone/>
            </a:pPr>
            <a:r>
              <a:rPr lang="en-US" sz="1800" b="1" dirty="0">
                <a:solidFill>
                  <a:schemeClr val="tx1"/>
                </a:solidFill>
              </a:rPr>
              <a:t>33.6 mm RMS</a:t>
            </a:r>
            <a:endParaRPr lang="en-US" sz="1800" dirty="0"/>
          </a:p>
        </p:txBody>
      </p:sp>
      <p:sp>
        <p:nvSpPr>
          <p:cNvPr id="9" name="card-278"/>
          <p:cNvSpPr/>
          <p:nvPr/>
        </p:nvSpPr>
        <p:spPr>
          <a:xfrm>
            <a:off x="4338218" y="5224272"/>
            <a:ext cx="3515258" cy="993648"/>
          </a:xfrm>
          <a:prstGeom prst="roundRect">
            <a:avLst>
              <a:gd name="adj" fmla="val 7362"/>
            </a:avLst>
          </a:prstGeom>
          <a:solidFill>
            <a:schemeClr val="bg2"/>
          </a:solidFill>
          <a:ln/>
        </p:spPr>
      </p:sp>
      <p:sp>
        <p:nvSpPr>
          <p:cNvPr id="10" name="dot-279"/>
          <p:cNvSpPr/>
          <p:nvPr/>
        </p:nvSpPr>
        <p:spPr>
          <a:xfrm>
            <a:off x="4521098" y="5443728"/>
            <a:ext cx="164592" cy="164592"/>
          </a:xfrm>
          <a:prstGeom prst="ellipse">
            <a:avLst/>
          </a:prstGeom>
          <a:solidFill>
            <a:schemeClr val="accent1"/>
          </a:solidFill>
          <a:ln/>
        </p:spPr>
      </p:sp>
      <p:sp>
        <p:nvSpPr>
          <p:cNvPr id="11" name="chip-label-280"/>
          <p:cNvSpPr txBox="1"/>
          <p:nvPr/>
        </p:nvSpPr>
        <p:spPr>
          <a:xfrm>
            <a:off x="4795418" y="5361432"/>
            <a:ext cx="2875178" cy="329184"/>
          </a:xfrm>
          <a:prstGeom prst="rect">
            <a:avLst/>
          </a:prstGeom>
          <a:noFill/>
          <a:ln/>
        </p:spPr>
        <p:txBody>
          <a:bodyPr wrap="square" lIns="0" tIns="0" rIns="0" bIns="0" rtlCol="0" anchor="ctr"/>
          <a:lstStyle/>
          <a:p>
            <a:pPr indent="0" marL="0">
              <a:buNone/>
            </a:pPr>
            <a:r>
              <a:rPr lang="en-US" sz="1400" b="1" dirty="0">
                <a:solidFill>
                  <a:schemeClr val="tx1"/>
                </a:solidFill>
              </a:rPr>
              <a:t>PSO-PID</a:t>
            </a:r>
            <a:endParaRPr lang="en-US" sz="1400" dirty="0"/>
          </a:p>
        </p:txBody>
      </p:sp>
      <p:sp>
        <p:nvSpPr>
          <p:cNvPr id="12" name="chip-value-281"/>
          <p:cNvSpPr txBox="1"/>
          <p:nvPr/>
        </p:nvSpPr>
        <p:spPr>
          <a:xfrm>
            <a:off x="4521098" y="5699760"/>
            <a:ext cx="3149498" cy="426720"/>
          </a:xfrm>
          <a:prstGeom prst="rect">
            <a:avLst/>
          </a:prstGeom>
          <a:noFill/>
          <a:ln/>
        </p:spPr>
        <p:txBody>
          <a:bodyPr wrap="square" lIns="0" tIns="0" rIns="0" bIns="0" rtlCol="0" anchor="ctr"/>
          <a:lstStyle/>
          <a:p>
            <a:pPr indent="0" marL="0">
              <a:buNone/>
            </a:pPr>
            <a:r>
              <a:rPr lang="en-US" sz="1800" b="1" dirty="0">
                <a:solidFill>
                  <a:schemeClr val="tx1"/>
                </a:solidFill>
              </a:rPr>
              <a:t>2.21 mm RMS</a:t>
            </a:r>
            <a:endParaRPr lang="en-US" sz="1800" dirty="0"/>
          </a:p>
        </p:txBody>
      </p:sp>
      <p:sp>
        <p:nvSpPr>
          <p:cNvPr id="13" name="card-282"/>
          <p:cNvSpPr/>
          <p:nvPr/>
        </p:nvSpPr>
        <p:spPr>
          <a:xfrm>
            <a:off x="8127797" y="5224272"/>
            <a:ext cx="3515258" cy="993648"/>
          </a:xfrm>
          <a:prstGeom prst="roundRect">
            <a:avLst>
              <a:gd name="adj" fmla="val 7362"/>
            </a:avLst>
          </a:prstGeom>
          <a:solidFill>
            <a:schemeClr val="bg2"/>
          </a:solidFill>
          <a:ln/>
        </p:spPr>
      </p:sp>
      <p:sp>
        <p:nvSpPr>
          <p:cNvPr id="14" name="dot-283"/>
          <p:cNvSpPr/>
          <p:nvPr/>
        </p:nvSpPr>
        <p:spPr>
          <a:xfrm>
            <a:off x="8310677" y="5443728"/>
            <a:ext cx="164592" cy="164592"/>
          </a:xfrm>
          <a:prstGeom prst="ellipse">
            <a:avLst/>
          </a:prstGeom>
          <a:solidFill>
            <a:schemeClr val="accent2"/>
          </a:solidFill>
          <a:ln/>
        </p:spPr>
      </p:sp>
      <p:sp>
        <p:nvSpPr>
          <p:cNvPr id="15" name="chip-label-284"/>
          <p:cNvSpPr txBox="1"/>
          <p:nvPr/>
        </p:nvSpPr>
        <p:spPr>
          <a:xfrm>
            <a:off x="8584997" y="5361432"/>
            <a:ext cx="2875178" cy="329184"/>
          </a:xfrm>
          <a:prstGeom prst="rect">
            <a:avLst/>
          </a:prstGeom>
          <a:noFill/>
          <a:ln/>
        </p:spPr>
        <p:txBody>
          <a:bodyPr wrap="square" lIns="0" tIns="0" rIns="0" bIns="0" rtlCol="0" anchor="ctr"/>
          <a:lstStyle/>
          <a:p>
            <a:pPr indent="0" marL="0">
              <a:buNone/>
            </a:pPr>
            <a:r>
              <a:rPr lang="en-US" sz="1400" b="1" dirty="0">
                <a:solidFill>
                  <a:schemeClr val="tx1"/>
                </a:solidFill>
              </a:rPr>
              <a:t>GA-PID</a:t>
            </a:r>
            <a:endParaRPr lang="en-US" sz="1400" dirty="0"/>
          </a:p>
        </p:txBody>
      </p:sp>
      <p:sp>
        <p:nvSpPr>
          <p:cNvPr id="16" name="chip-value-285"/>
          <p:cNvSpPr txBox="1"/>
          <p:nvPr/>
        </p:nvSpPr>
        <p:spPr>
          <a:xfrm>
            <a:off x="8310677" y="5699760"/>
            <a:ext cx="3149498" cy="426720"/>
          </a:xfrm>
          <a:prstGeom prst="rect">
            <a:avLst/>
          </a:prstGeom>
          <a:noFill/>
          <a:ln/>
        </p:spPr>
        <p:txBody>
          <a:bodyPr wrap="square" lIns="0" tIns="0" rIns="0" bIns="0" rtlCol="0" anchor="ctr"/>
          <a:lstStyle/>
          <a:p>
            <a:pPr indent="0" marL="0">
              <a:buNone/>
            </a:pPr>
            <a:r>
              <a:rPr lang="en-US" sz="1800" b="1" dirty="0">
                <a:solidFill>
                  <a:schemeClr val="tx1"/>
                </a:solidFill>
              </a:rPr>
              <a:t>2.14 mm RMS</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600" b="1" dirty="0">
                <a:solidFill>
                  <a:schemeClr val="tx1"/>
                </a:solidFill>
              </a:rPr>
              <a:t>Task-space velocity control</a:t>
            </a:r>
            <a:endParaRPr lang="en-US" sz="36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6"/>
                </a:solidFill>
              </a:rPr>
              <a:t>A Cartesian loop with a DLS Jacobian and PSO-tuned velocity PIDs cuts the error 3× to 0.73 mm</a:t>
            </a:r>
            <a:endParaRPr lang="en-US" sz="1600" dirty="0"/>
          </a:p>
        </p:txBody>
      </p:sp>
      <p:pic>
        <p:nvPicPr>
          <p:cNvPr id="4" name="figure-286" descr="Seam welding with joint-space position PID versus task-space velocity PID">    </p:cNvPr>
          <p:cNvPicPr>
            <a:picLocks noChangeAspect="1"/>
          </p:cNvPicPr>
          <p:nvPr/>
        </p:nvPicPr>
        <p:blipFill>
          <a:blip r:embed="rId1"/>
          <a:stretch>
            <a:fillRect/>
          </a:stretch>
        </p:blipFill>
        <p:spPr>
          <a:xfrm>
            <a:off x="1066648" y="1600200"/>
            <a:ext cx="10058400" cy="3486912"/>
          </a:xfrm>
          <a:prstGeom prst="rect">
            <a:avLst/>
          </a:prstGeom>
        </p:spPr>
      </p:pic>
      <p:sp>
        <p:nvSpPr>
          <p:cNvPr id="5" name="card-287"/>
          <p:cNvSpPr/>
          <p:nvPr/>
        </p:nvSpPr>
        <p:spPr>
          <a:xfrm>
            <a:off x="548640" y="5224272"/>
            <a:ext cx="3515258" cy="993648"/>
          </a:xfrm>
          <a:prstGeom prst="roundRect">
            <a:avLst>
              <a:gd name="adj" fmla="val 7362"/>
            </a:avLst>
          </a:prstGeom>
          <a:solidFill>
            <a:schemeClr val="bg2"/>
          </a:solidFill>
          <a:ln/>
        </p:spPr>
      </p:sp>
      <p:sp>
        <p:nvSpPr>
          <p:cNvPr id="6" name="dot-288"/>
          <p:cNvSpPr/>
          <p:nvPr/>
        </p:nvSpPr>
        <p:spPr>
          <a:xfrm>
            <a:off x="731520" y="5443728"/>
            <a:ext cx="164592" cy="164592"/>
          </a:xfrm>
          <a:prstGeom prst="ellipse">
            <a:avLst/>
          </a:prstGeom>
          <a:solidFill>
            <a:schemeClr val="accent1"/>
          </a:solidFill>
          <a:ln/>
        </p:spPr>
      </p:sp>
      <p:sp>
        <p:nvSpPr>
          <p:cNvPr id="7" name="chip-label-289"/>
          <p:cNvSpPr txBox="1"/>
          <p:nvPr/>
        </p:nvSpPr>
        <p:spPr>
          <a:xfrm>
            <a:off x="1005840" y="5361432"/>
            <a:ext cx="2875178" cy="329184"/>
          </a:xfrm>
          <a:prstGeom prst="rect">
            <a:avLst/>
          </a:prstGeom>
          <a:noFill/>
          <a:ln/>
        </p:spPr>
        <p:txBody>
          <a:bodyPr wrap="square" lIns="0" tIns="0" rIns="0" bIns="0" rtlCol="0" anchor="ctr"/>
          <a:lstStyle/>
          <a:p>
            <a:pPr indent="0" marL="0">
              <a:buNone/>
            </a:pPr>
            <a:r>
              <a:rPr lang="en-US" sz="1400" b="1" dirty="0">
                <a:solidFill>
                  <a:schemeClr val="tx1"/>
                </a:solidFill>
              </a:rPr>
              <a:t>Joint-space PSO-PID</a:t>
            </a:r>
            <a:endParaRPr lang="en-US" sz="1400" dirty="0"/>
          </a:p>
        </p:txBody>
      </p:sp>
      <p:sp>
        <p:nvSpPr>
          <p:cNvPr id="8" name="chip-value-290"/>
          <p:cNvSpPr txBox="1"/>
          <p:nvPr/>
        </p:nvSpPr>
        <p:spPr>
          <a:xfrm>
            <a:off x="731520" y="5699760"/>
            <a:ext cx="3149498" cy="426720"/>
          </a:xfrm>
          <a:prstGeom prst="rect">
            <a:avLst/>
          </a:prstGeom>
          <a:noFill/>
          <a:ln/>
        </p:spPr>
        <p:txBody>
          <a:bodyPr wrap="square" lIns="0" tIns="0" rIns="0" bIns="0" rtlCol="0" anchor="ctr"/>
          <a:lstStyle/>
          <a:p>
            <a:pPr indent="0" marL="0">
              <a:buNone/>
            </a:pPr>
            <a:r>
              <a:rPr lang="en-US" sz="1800" b="1" dirty="0">
                <a:solidFill>
                  <a:schemeClr val="tx1"/>
                </a:solidFill>
              </a:rPr>
              <a:t>2.17 mm RMS</a:t>
            </a:r>
            <a:endParaRPr lang="en-US" sz="1800" dirty="0"/>
          </a:p>
        </p:txBody>
      </p:sp>
      <p:sp>
        <p:nvSpPr>
          <p:cNvPr id="9" name="card-291"/>
          <p:cNvSpPr/>
          <p:nvPr/>
        </p:nvSpPr>
        <p:spPr>
          <a:xfrm>
            <a:off x="4338218" y="5224272"/>
            <a:ext cx="3515258" cy="993648"/>
          </a:xfrm>
          <a:prstGeom prst="roundRect">
            <a:avLst>
              <a:gd name="adj" fmla="val 7362"/>
            </a:avLst>
          </a:prstGeom>
          <a:solidFill>
            <a:schemeClr val="bg2"/>
          </a:solidFill>
          <a:ln/>
        </p:spPr>
      </p:sp>
      <p:sp>
        <p:nvSpPr>
          <p:cNvPr id="10" name="dot-292"/>
          <p:cNvSpPr/>
          <p:nvPr/>
        </p:nvSpPr>
        <p:spPr>
          <a:xfrm>
            <a:off x="4521098" y="5443728"/>
            <a:ext cx="164592" cy="164592"/>
          </a:xfrm>
          <a:prstGeom prst="ellipse">
            <a:avLst/>
          </a:prstGeom>
          <a:solidFill>
            <a:schemeClr val="accent5"/>
          </a:solidFill>
          <a:ln/>
        </p:spPr>
      </p:sp>
      <p:sp>
        <p:nvSpPr>
          <p:cNvPr id="11" name="chip-label-293"/>
          <p:cNvSpPr txBox="1"/>
          <p:nvPr/>
        </p:nvSpPr>
        <p:spPr>
          <a:xfrm>
            <a:off x="4795418" y="5361432"/>
            <a:ext cx="2875178" cy="329184"/>
          </a:xfrm>
          <a:prstGeom prst="rect">
            <a:avLst/>
          </a:prstGeom>
          <a:noFill/>
          <a:ln/>
        </p:spPr>
        <p:txBody>
          <a:bodyPr wrap="square" lIns="0" tIns="0" rIns="0" bIns="0" rtlCol="0" anchor="ctr"/>
          <a:lstStyle/>
          <a:p>
            <a:pPr indent="0" marL="0">
              <a:buNone/>
            </a:pPr>
            <a:r>
              <a:rPr lang="en-US" sz="1400" b="1" dirty="0">
                <a:solidFill>
                  <a:schemeClr val="tx1"/>
                </a:solidFill>
              </a:rPr>
              <a:t>Task-space velocity (PSO)</a:t>
            </a:r>
            <a:endParaRPr lang="en-US" sz="1400" dirty="0"/>
          </a:p>
        </p:txBody>
      </p:sp>
      <p:sp>
        <p:nvSpPr>
          <p:cNvPr id="12" name="chip-value-294"/>
          <p:cNvSpPr txBox="1"/>
          <p:nvPr/>
        </p:nvSpPr>
        <p:spPr>
          <a:xfrm>
            <a:off x="4521098" y="5699760"/>
            <a:ext cx="3149498" cy="426720"/>
          </a:xfrm>
          <a:prstGeom prst="rect">
            <a:avLst/>
          </a:prstGeom>
          <a:noFill/>
          <a:ln/>
        </p:spPr>
        <p:txBody>
          <a:bodyPr wrap="square" lIns="0" tIns="0" rIns="0" bIns="0" rtlCol="0" anchor="ctr"/>
          <a:lstStyle/>
          <a:p>
            <a:pPr indent="0" marL="0">
              <a:buNone/>
            </a:pPr>
            <a:r>
              <a:rPr lang="en-US" sz="1800" b="1" dirty="0">
                <a:solidFill>
                  <a:schemeClr val="tx1"/>
                </a:solidFill>
              </a:rPr>
              <a:t>0.73 mm RMS</a:t>
            </a:r>
            <a:endParaRPr lang="en-US" sz="1800" dirty="0"/>
          </a:p>
        </p:txBody>
      </p:sp>
      <p:sp>
        <p:nvSpPr>
          <p:cNvPr id="13" name="card-295"/>
          <p:cNvSpPr/>
          <p:nvPr/>
        </p:nvSpPr>
        <p:spPr>
          <a:xfrm>
            <a:off x="8127797" y="5224272"/>
            <a:ext cx="3515258" cy="993648"/>
          </a:xfrm>
          <a:prstGeom prst="roundRect">
            <a:avLst>
              <a:gd name="adj" fmla="val 7362"/>
            </a:avLst>
          </a:prstGeom>
          <a:solidFill>
            <a:schemeClr val="bg2"/>
          </a:solidFill>
          <a:ln/>
        </p:spPr>
      </p:sp>
      <p:sp>
        <p:nvSpPr>
          <p:cNvPr id="14" name="dot-296"/>
          <p:cNvSpPr/>
          <p:nvPr/>
        </p:nvSpPr>
        <p:spPr>
          <a:xfrm>
            <a:off x="8310677" y="5443728"/>
            <a:ext cx="164592" cy="164592"/>
          </a:xfrm>
          <a:prstGeom prst="ellipse">
            <a:avLst/>
          </a:prstGeom>
          <a:solidFill>
            <a:schemeClr val="accent6"/>
          </a:solidFill>
          <a:ln/>
        </p:spPr>
      </p:sp>
      <p:sp>
        <p:nvSpPr>
          <p:cNvPr id="15" name="chip-label-297"/>
          <p:cNvSpPr txBox="1"/>
          <p:nvPr/>
        </p:nvSpPr>
        <p:spPr>
          <a:xfrm>
            <a:off x="8584997" y="5361432"/>
            <a:ext cx="2875178" cy="329184"/>
          </a:xfrm>
          <a:prstGeom prst="rect">
            <a:avLst/>
          </a:prstGeom>
          <a:noFill/>
          <a:ln/>
        </p:spPr>
        <p:txBody>
          <a:bodyPr wrap="square" lIns="0" tIns="0" rIns="0" bIns="0" rtlCol="0" anchor="ctr"/>
          <a:lstStyle/>
          <a:p>
            <a:pPr indent="0" marL="0">
              <a:buNone/>
            </a:pPr>
            <a:r>
              <a:rPr lang="en-US" sz="1400" b="1" dirty="0">
                <a:solidFill>
                  <a:schemeClr val="tx1"/>
                </a:solidFill>
              </a:rPr>
              <a:t>Max error</a:t>
            </a:r>
            <a:endParaRPr lang="en-US" sz="1400" dirty="0"/>
          </a:p>
        </p:txBody>
      </p:sp>
      <p:sp>
        <p:nvSpPr>
          <p:cNvPr id="16" name="chip-value-298"/>
          <p:cNvSpPr txBox="1"/>
          <p:nvPr/>
        </p:nvSpPr>
        <p:spPr>
          <a:xfrm>
            <a:off x="8310677" y="5699760"/>
            <a:ext cx="3149498" cy="426720"/>
          </a:xfrm>
          <a:prstGeom prst="rect">
            <a:avLst/>
          </a:prstGeom>
          <a:noFill/>
          <a:ln/>
        </p:spPr>
        <p:txBody>
          <a:bodyPr wrap="square" lIns="0" tIns="0" rIns="0" bIns="0" rtlCol="0" anchor="ctr"/>
          <a:lstStyle/>
          <a:p>
            <a:pPr indent="0" marL="0">
              <a:buNone/>
            </a:pPr>
            <a:r>
              <a:rPr lang="en-US" sz="1800" b="1" dirty="0">
                <a:solidFill>
                  <a:schemeClr val="tx1"/>
                </a:solidFill>
              </a:rPr>
              <a:t>4.33 → 1.41 mm</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600" b="1" dirty="0">
                <a:solidFill>
                  <a:schemeClr val="bg1"/>
                </a:solidFill>
              </a:rPr>
              <a:t>Conclusions and next steps</a:t>
            </a:r>
            <a:endParaRPr lang="en-US" sz="36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1"/>
                </a:solidFill>
              </a:rPr>
              <a:t>Automatic, delay-aware tuning beats both reference designs; PSO is the stronger optimizer here</a:t>
            </a:r>
            <a:endParaRPr lang="en-US" sz="1600" dirty="0"/>
          </a:p>
        </p:txBody>
      </p:sp>
      <p:sp>
        <p:nvSpPr>
          <p:cNvPr id="4" name="card-299"/>
          <p:cNvSpPr/>
          <p:nvPr/>
        </p:nvSpPr>
        <p:spPr>
          <a:xfrm>
            <a:off x="548640" y="1783080"/>
            <a:ext cx="5410048" cy="4389120"/>
          </a:xfrm>
          <a:prstGeom prst="roundRect">
            <a:avLst>
              <a:gd name="adj" fmla="val 1667"/>
            </a:avLst>
          </a:prstGeom>
          <a:solidFill>
            <a:schemeClr val="tx1"/>
          </a:solidFill>
          <a:ln/>
        </p:spPr>
      </p:sp>
      <p:sp>
        <p:nvSpPr>
          <p:cNvPr id="5" name="dot-300"/>
          <p:cNvSpPr/>
          <p:nvPr/>
        </p:nvSpPr>
        <p:spPr>
          <a:xfrm>
            <a:off x="822960" y="2084832"/>
            <a:ext cx="201168" cy="201168"/>
          </a:xfrm>
          <a:prstGeom prst="ellipse">
            <a:avLst/>
          </a:prstGeom>
          <a:solidFill>
            <a:schemeClr val="accent1"/>
          </a:solidFill>
          <a:ln/>
        </p:spPr>
      </p:sp>
      <p:sp>
        <p:nvSpPr>
          <p:cNvPr id="6" name="card-heading-301"/>
          <p:cNvSpPr txBox="1"/>
          <p:nvPr/>
        </p:nvSpPr>
        <p:spPr>
          <a:xfrm>
            <a:off x="1143000" y="1984248"/>
            <a:ext cx="4541368" cy="411480"/>
          </a:xfrm>
          <a:prstGeom prst="rect">
            <a:avLst/>
          </a:prstGeom>
          <a:noFill/>
          <a:ln/>
        </p:spPr>
        <p:txBody>
          <a:bodyPr wrap="square" lIns="0" tIns="0" rIns="0" bIns="0" rtlCol="0" anchor="ctr"/>
          <a:lstStyle/>
          <a:p>
            <a:pPr indent="0" marL="0">
              <a:buNone/>
            </a:pPr>
            <a:r>
              <a:rPr lang="en-US" sz="1800" b="1" dirty="0">
                <a:solidFill>
                  <a:schemeClr val="bg1"/>
                </a:solidFill>
              </a:rPr>
              <a:t>What the results show</a:t>
            </a:r>
            <a:endParaRPr lang="en-US" sz="1800" dirty="0"/>
          </a:p>
        </p:txBody>
      </p:sp>
      <p:sp>
        <p:nvSpPr>
          <p:cNvPr id="7" name="card-body-302"/>
          <p:cNvSpPr txBox="1"/>
          <p:nvPr/>
        </p:nvSpPr>
        <p:spPr>
          <a:xfrm>
            <a:off x="822960" y="2560320"/>
            <a:ext cx="4861408" cy="34290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bg1"/>
                </a:solidFill>
              </a:rPr>
              <a:t>Integral action is what removes the 3-8° sag; a PD loop cannot reject the bias</a:t>
            </a:r>
            <a:endParaRPr lang="en-US" sz="1800" dirty="0"/>
          </a:p>
          <a:p>
            <a:pPr marL="342900" indent="-342900">
              <a:spcAft>
                <a:spcPts val="800"/>
              </a:spcAft>
              <a:buSzPct val="100000"/>
              <a:buChar char="•"/>
            </a:pPr>
            <a:r>
              <a:rPr lang="en-US" sz="1800" dirty="0">
                <a:solidFill>
                  <a:schemeClr val="bg1"/>
                </a:solidFill>
              </a:rPr>
              <a:t>Delay-aware tuning trades bandwidth for margin: stable up to 42.5 ms</a:t>
            </a:r>
            <a:endParaRPr lang="en-US" sz="1800" dirty="0"/>
          </a:p>
          <a:p>
            <a:pPr marL="342900" indent="-342900">
              <a:spcAft>
                <a:spcPts val="800"/>
              </a:spcAft>
              <a:buSzPct val="100000"/>
              <a:buChar char="•"/>
            </a:pPr>
            <a:r>
              <a:rPr lang="en-US" sz="1800" dirty="0">
                <a:solidFill>
                  <a:schemeClr val="bg1"/>
                </a:solidFill>
              </a:rPr>
              <a:t>PSO reached the lowest cost: 1.05 against 1.47 for GA</a:t>
            </a:r>
            <a:endParaRPr lang="en-US" sz="1800" dirty="0"/>
          </a:p>
          <a:p>
            <a:pPr marL="342900" indent="-342900">
              <a:spcAft>
                <a:spcPts val="800"/>
              </a:spcAft>
              <a:buSzPct val="100000"/>
              <a:buChar char="•"/>
            </a:pPr>
            <a:r>
              <a:rPr lang="en-US" sz="1800" dirty="0">
                <a:solidFill>
                  <a:schemeClr val="bg1"/>
                </a:solidFill>
              </a:rPr>
              <a:t>Task-space velocity control cuts seam error 3× to 0.73 mm</a:t>
            </a:r>
            <a:endParaRPr lang="en-US" sz="1800" dirty="0"/>
          </a:p>
        </p:txBody>
      </p:sp>
      <p:sp>
        <p:nvSpPr>
          <p:cNvPr id="8" name="card-303"/>
          <p:cNvSpPr/>
          <p:nvPr/>
        </p:nvSpPr>
        <p:spPr>
          <a:xfrm>
            <a:off x="6233008" y="1783080"/>
            <a:ext cx="5410048" cy="4389120"/>
          </a:xfrm>
          <a:prstGeom prst="roundRect">
            <a:avLst>
              <a:gd name="adj" fmla="val 1667"/>
            </a:avLst>
          </a:prstGeom>
          <a:solidFill>
            <a:schemeClr val="tx1"/>
          </a:solidFill>
          <a:ln/>
        </p:spPr>
      </p:sp>
      <p:sp>
        <p:nvSpPr>
          <p:cNvPr id="9" name="dot-304"/>
          <p:cNvSpPr/>
          <p:nvPr/>
        </p:nvSpPr>
        <p:spPr>
          <a:xfrm>
            <a:off x="6507328" y="2084832"/>
            <a:ext cx="201168" cy="201168"/>
          </a:xfrm>
          <a:prstGeom prst="ellipse">
            <a:avLst/>
          </a:prstGeom>
          <a:solidFill>
            <a:schemeClr val="accent4"/>
          </a:solidFill>
          <a:ln/>
        </p:spPr>
      </p:sp>
      <p:sp>
        <p:nvSpPr>
          <p:cNvPr id="10" name="card-heading-305"/>
          <p:cNvSpPr txBox="1"/>
          <p:nvPr/>
        </p:nvSpPr>
        <p:spPr>
          <a:xfrm>
            <a:off x="6827368" y="1984248"/>
            <a:ext cx="4541368" cy="411480"/>
          </a:xfrm>
          <a:prstGeom prst="rect">
            <a:avLst/>
          </a:prstGeom>
          <a:noFill/>
          <a:ln/>
        </p:spPr>
        <p:txBody>
          <a:bodyPr wrap="square" lIns="0" tIns="0" rIns="0" bIns="0" rtlCol="0" anchor="ctr"/>
          <a:lstStyle/>
          <a:p>
            <a:pPr indent="0" marL="0">
              <a:buNone/>
            </a:pPr>
            <a:r>
              <a:rPr lang="en-US" sz="1800" b="1" dirty="0">
                <a:solidFill>
                  <a:schemeClr val="bg1"/>
                </a:solidFill>
              </a:rPr>
              <a:t>Limitations and next steps</a:t>
            </a:r>
            <a:endParaRPr lang="en-US" sz="1800" dirty="0"/>
          </a:p>
        </p:txBody>
      </p:sp>
      <p:sp>
        <p:nvSpPr>
          <p:cNvPr id="11" name="card-body-306"/>
          <p:cNvSpPr txBox="1"/>
          <p:nvPr/>
        </p:nvSpPr>
        <p:spPr>
          <a:xfrm>
            <a:off x="6507328" y="2560320"/>
            <a:ext cx="4861408" cy="34290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bg1"/>
                </a:solidFill>
              </a:rPr>
              <a:t>Friction and gravity magnitudes are calibrated, not identified on hardware</a:t>
            </a:r>
            <a:endParaRPr lang="en-US" sz="1800" dirty="0"/>
          </a:p>
          <a:p>
            <a:pPr marL="342900" indent="-342900">
              <a:spcAft>
                <a:spcPts val="800"/>
              </a:spcAft>
              <a:buSzPct val="100000"/>
              <a:buChar char="•"/>
            </a:pPr>
            <a:r>
              <a:rPr lang="en-US" sz="1800" dirty="0">
                <a:solidFill>
                  <a:schemeClr val="bg1"/>
                </a:solidFill>
              </a:rPr>
              <a:t>Gravity is a constant bias; torque limits are approximate</a:t>
            </a:r>
            <a:endParaRPr lang="en-US" sz="1800" dirty="0"/>
          </a:p>
          <a:p>
            <a:pPr marL="342900" indent="-342900">
              <a:spcAft>
                <a:spcPts val="800"/>
              </a:spcAft>
              <a:buSzPct val="100000"/>
              <a:buChar char="•"/>
            </a:pPr>
            <a:r>
              <a:rPr lang="en-US" sz="1800" dirty="0">
                <a:solidFill>
                  <a:schemeClr val="bg1"/>
                </a:solidFill>
              </a:rPr>
              <a:t>Next: run the PSO gains on the QUARC hardware loop</a:t>
            </a:r>
            <a:endParaRPr lang="en-US" sz="1800" dirty="0"/>
          </a:p>
          <a:p>
            <a:pPr marL="342900" indent="-342900">
              <a:spcAft>
                <a:spcPts val="800"/>
              </a:spcAft>
              <a:buSzPct val="100000"/>
              <a:buChar char="•"/>
            </a:pPr>
            <a:r>
              <a:rPr lang="en-US" sz="1800" dirty="0">
                <a:solidFill>
                  <a:schemeClr val="bg1"/>
                </a:solidFill>
              </a:rPr>
              <a:t>Next: identify friction and gravity, then retune online</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mni Control">
  <a:themeElements>
    <a:clrScheme name="Omni Control">
      <a:dk1>
        <a:srgbClr val="1A1F24"/>
      </a:dk1>
      <a:lt1>
        <a:srgbClr val="FFFFFF"/>
      </a:lt1>
      <a:dk2>
        <a:srgbClr val="1B2A35"/>
      </a:dk2>
      <a:lt2>
        <a:srgbClr val="F1F4F3"/>
      </a:lt2>
      <a:accent1>
        <a:srgbClr val="1BAF7A"/>
      </a:accent1>
      <a:accent2>
        <a:srgbClr val="EDA100"/>
      </a:accent2>
      <a:accent3>
        <a:srgbClr val="2A78D6"/>
      </a:accent3>
      <a:accent4>
        <a:srgbClr val="EB6834"/>
      </a:accent4>
      <a:accent5>
        <a:srgbClr val="6250D6"/>
      </a:accent5>
      <a:accent6>
        <a:srgbClr val="5F6E7A"/>
      </a:accent6>
      <a:hlink>
        <a:srgbClr val="2A78D6"/>
      </a:hlink>
      <a:folHlink>
        <a:srgbClr val="6250D6"/>
      </a:folHlink>
    </a:clrScheme>
    <a:fontScheme name="Omni Contro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Automatic PID Retuning for the Phantom Omni</dc:title>
  <dc:subject>PptxGenJS Presentation</dc:subject>
  <dc:creator>Omni PID Optimizer</dc:creator>
  <cp:lastModifiedBy>Omni PID Optimizer</cp:lastModifiedBy>
  <cp:revision>1</cp:revision>
  <dcterms:created xsi:type="dcterms:W3CDTF">2026-10-17T08:11:32Z</dcterms:created>
  <dcterms:modified xsi:type="dcterms:W3CDTF">2026-10-17T08:11:32Z</dcterms:modified>
</cp:coreProperties>
</file>